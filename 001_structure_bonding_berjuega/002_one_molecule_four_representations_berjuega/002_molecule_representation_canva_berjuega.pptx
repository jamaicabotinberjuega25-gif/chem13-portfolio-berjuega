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7556500" cy="10693400"/>
  <p:notesSz cx="6858000" cy="9144000"/>
  <p:embeddedFontLst>
    <p:embeddedFont>
      <p:font typeface="Agrandir" charset="1" panose="00000500000000000000"/>
      <p:regular r:id="rId16"/>
    </p:embeddedFont>
    <p:embeddedFont>
      <p:font typeface="Montserrat" charset="1" panose="00000500000000000000"/>
      <p:regular r:id="rId17"/>
    </p:embeddedFont>
    <p:embeddedFont>
      <p:font typeface="Agrandir Bold" charset="1" panose="00000800000000000000"/>
      <p:regular r:id="rId18"/>
    </p:embeddedFont>
    <p:embeddedFont>
      <p:font typeface="Cinzel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560000" cy="1557352"/>
            <a:chOff x="0" y="0"/>
            <a:chExt cx="2709333" cy="558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558120"/>
            </a:xfrm>
            <a:custGeom>
              <a:avLst/>
              <a:gdLst/>
              <a:ahLst/>
              <a:cxnLst/>
              <a:rect r="r" b="b" t="t" l="l"/>
              <a:pathLst>
                <a:path h="5581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558120"/>
                  </a:lnTo>
                  <a:lnTo>
                    <a:pt x="0" y="558120"/>
                  </a:lnTo>
                  <a:close/>
                </a:path>
              </a:pathLst>
            </a:custGeom>
            <a:gradFill rotWithShape="true">
              <a:gsLst>
                <a:gs pos="0">
                  <a:srgbClr val="87C7FF">
                    <a:alpha val="100000"/>
                  </a:srgbClr>
                </a:gs>
                <a:gs pos="100000">
                  <a:srgbClr val="D4CEF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709333" cy="586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747852"/>
            <a:ext cx="3737038" cy="3598148"/>
            <a:chOff x="0" y="0"/>
            <a:chExt cx="1339270" cy="12894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9270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9270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3737038" y="1750248"/>
            <a:ext cx="3822962" cy="3598148"/>
            <a:chOff x="0" y="0"/>
            <a:chExt cx="1370063" cy="12894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0063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70063">
                  <a:moveTo>
                    <a:pt x="0" y="0"/>
                  </a:moveTo>
                  <a:lnTo>
                    <a:pt x="1370063" y="0"/>
                  </a:lnTo>
                  <a:lnTo>
                    <a:pt x="1370063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370063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5535554"/>
            <a:ext cx="3737038" cy="3598148"/>
            <a:chOff x="0" y="0"/>
            <a:chExt cx="1339270" cy="12894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9270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339270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3780000" y="5536500"/>
            <a:ext cx="3780000" cy="3598148"/>
            <a:chOff x="0" y="0"/>
            <a:chExt cx="1354667" cy="12894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4667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54667">
                  <a:moveTo>
                    <a:pt x="0" y="0"/>
                  </a:moveTo>
                  <a:lnTo>
                    <a:pt x="1354667" y="0"/>
                  </a:lnTo>
                  <a:lnTo>
                    <a:pt x="1354667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354667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0" y="9323255"/>
            <a:ext cx="7560000" cy="1368745"/>
            <a:chOff x="0" y="0"/>
            <a:chExt cx="2709333" cy="4905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09333" cy="490527"/>
            </a:xfrm>
            <a:custGeom>
              <a:avLst/>
              <a:gdLst/>
              <a:ahLst/>
              <a:cxnLst/>
              <a:rect r="r" b="b" t="t" l="l"/>
              <a:pathLst>
                <a:path h="490527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490527"/>
                  </a:lnTo>
                  <a:lnTo>
                    <a:pt x="0" y="490527"/>
                  </a:lnTo>
                  <a:close/>
                </a:path>
              </a:pathLst>
            </a:custGeom>
            <a:gradFill rotWithShape="true">
              <a:gsLst>
                <a:gs pos="0">
                  <a:srgbClr val="87C7FF">
                    <a:alpha val="100000"/>
                  </a:srgbClr>
                </a:gs>
                <a:gs pos="100000">
                  <a:srgbClr val="CFCEFF">
                    <a:alpha val="100000"/>
                  </a:srgbClr>
                </a:gs>
              </a:gsLst>
              <a:lin ang="5400000"/>
            </a:gra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709333" cy="519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316603" y="778676"/>
            <a:ext cx="3555354" cy="355494"/>
            <a:chOff x="0" y="0"/>
            <a:chExt cx="4740472" cy="473992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59861"/>
              <a:ext cx="4740472" cy="4014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5"/>
                </a:lnSpc>
              </a:pPr>
              <a:r>
                <a:rPr lang="en-US" sz="1646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Molecular Formula:</a:t>
              </a:r>
            </a:p>
          </p:txBody>
        </p:sp>
        <p:sp>
          <p:nvSpPr>
            <p:cNvPr name="AutoShape 22" id="22"/>
            <p:cNvSpPr/>
            <p:nvPr/>
          </p:nvSpPr>
          <p:spPr>
            <a:xfrm>
              <a:off x="2428258" y="467642"/>
              <a:ext cx="1357226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3" id="23"/>
            <p:cNvSpPr txBox="true"/>
            <p:nvPr/>
          </p:nvSpPr>
          <p:spPr>
            <a:xfrm rot="0">
              <a:off x="1578605" y="-47625"/>
              <a:ext cx="2883627" cy="515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3"/>
                </a:lnSpc>
              </a:pPr>
              <a:r>
                <a:rPr lang="en-US" sz="23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</a:t>
              </a:r>
              <a:r>
                <a:rPr lang="en-US" sz="23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  <a:r>
                <a:rPr lang="en-US" sz="23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</a:t>
              </a:r>
              <a:r>
                <a:rPr lang="en-US" sz="23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8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0" y="1747852"/>
            <a:ext cx="3737038" cy="694326"/>
            <a:chOff x="0" y="0"/>
            <a:chExt cx="1339270" cy="2488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39270" cy="248831"/>
            </a:xfrm>
            <a:custGeom>
              <a:avLst/>
              <a:gdLst/>
              <a:ahLst/>
              <a:cxnLst/>
              <a:rect r="r" b="b" t="t" l="l"/>
              <a:pathLst>
                <a:path h="248831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1339270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10800000">
            <a:off x="3737038" y="1750248"/>
            <a:ext cx="3822962" cy="694326"/>
            <a:chOff x="0" y="0"/>
            <a:chExt cx="1370063" cy="24883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70063" cy="248831"/>
            </a:xfrm>
            <a:custGeom>
              <a:avLst/>
              <a:gdLst/>
              <a:ahLst/>
              <a:cxnLst/>
              <a:rect r="r" b="b" t="t" l="l"/>
              <a:pathLst>
                <a:path h="248831" w="1370063">
                  <a:moveTo>
                    <a:pt x="0" y="0"/>
                  </a:moveTo>
                  <a:lnTo>
                    <a:pt x="1370063" y="0"/>
                  </a:lnTo>
                  <a:lnTo>
                    <a:pt x="1370063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370063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10800000">
            <a:off x="3780000" y="5536751"/>
            <a:ext cx="3780000" cy="694326"/>
            <a:chOff x="0" y="0"/>
            <a:chExt cx="1354667" cy="24883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54667" cy="248831"/>
            </a:xfrm>
            <a:custGeom>
              <a:avLst/>
              <a:gdLst/>
              <a:ahLst/>
              <a:cxnLst/>
              <a:rect r="r" b="b" t="t" l="l"/>
              <a:pathLst>
                <a:path h="248831" w="1354667">
                  <a:moveTo>
                    <a:pt x="0" y="0"/>
                  </a:moveTo>
                  <a:lnTo>
                    <a:pt x="1354667" y="0"/>
                  </a:lnTo>
                  <a:lnTo>
                    <a:pt x="1354667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1354667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0" y="5536500"/>
            <a:ext cx="3737038" cy="694326"/>
            <a:chOff x="0" y="0"/>
            <a:chExt cx="1339270" cy="24883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39270" cy="248831"/>
            </a:xfrm>
            <a:custGeom>
              <a:avLst/>
              <a:gdLst/>
              <a:ahLst/>
              <a:cxnLst/>
              <a:rect r="r" b="b" t="t" l="l"/>
              <a:pathLst>
                <a:path h="248831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1339270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3792982" y="2863674"/>
            <a:ext cx="3856652" cy="2034832"/>
          </a:xfrm>
          <a:custGeom>
            <a:avLst/>
            <a:gdLst/>
            <a:ahLst/>
            <a:cxnLst/>
            <a:rect r="r" b="b" t="t" l="l"/>
            <a:pathLst>
              <a:path h="2034832" w="3856652">
                <a:moveTo>
                  <a:pt x="0" y="0"/>
                </a:moveTo>
                <a:lnTo>
                  <a:pt x="3856652" y="0"/>
                </a:lnTo>
                <a:lnTo>
                  <a:pt x="3856652" y="2034833"/>
                </a:lnTo>
                <a:lnTo>
                  <a:pt x="0" y="20348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394436">
            <a:off x="4158000" y="6683034"/>
            <a:ext cx="3024000" cy="1266811"/>
          </a:xfrm>
          <a:custGeom>
            <a:avLst/>
            <a:gdLst/>
            <a:ahLst/>
            <a:cxnLst/>
            <a:rect r="r" b="b" t="t" l="l"/>
            <a:pathLst>
              <a:path h="1266811" w="3024000">
                <a:moveTo>
                  <a:pt x="0" y="0"/>
                </a:moveTo>
                <a:lnTo>
                  <a:pt x="3024000" y="0"/>
                </a:lnTo>
                <a:lnTo>
                  <a:pt x="3024000" y="1266811"/>
                </a:lnTo>
                <a:lnTo>
                  <a:pt x="0" y="12668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-29511" y="3204179"/>
            <a:ext cx="3675707" cy="86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b="true" sz="4299" spc="404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</a:t>
            </a:r>
            <a:r>
              <a:rPr lang="en-US" b="true" sz="4299" spc="404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3</a:t>
            </a:r>
            <a:r>
              <a:rPr lang="en-US" b="true" sz="4299" spc="404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H</a:t>
            </a:r>
            <a:r>
              <a:rPr lang="en-US" b="true" sz="4299" spc="404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8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992784" y="327320"/>
            <a:ext cx="3574433" cy="451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2"/>
              </a:lnSpc>
            </a:pPr>
            <a:r>
              <a:rPr lang="en-US" sz="2687" b="true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C</a:t>
            </a:r>
            <a:r>
              <a:rPr lang="en-US" b="true" sz="2687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ARD 01 — Propane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0842" y="1896854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531" indent="-177765" lvl="1">
              <a:lnSpc>
                <a:spcPts val="2305"/>
              </a:lnSpc>
              <a:buAutoNum type="arabicPeriod" startAt="1"/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Molecular Formula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870842" y="1899250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531" indent="-177765" lvl="1">
              <a:lnSpc>
                <a:spcPts val="2305"/>
              </a:lnSpc>
              <a:buAutoNum type="arabicPeriod" startAt="1"/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Lewis Structure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0" y="5688900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531" indent="-177765" lvl="1">
              <a:lnSpc>
                <a:spcPts val="2305"/>
              </a:lnSpc>
              <a:buAutoNum type="arabicPeriod" startAt="1"/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Condensed Structural Formula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094280" y="5688900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4.   Bond-line Formula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189408" y="9506123"/>
            <a:ext cx="3181184" cy="38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4"/>
              </a:lnSpc>
            </a:pPr>
            <a:r>
              <a:rPr lang="en-US" sz="2253" b="true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VERIFIC</a:t>
            </a:r>
            <a:r>
              <a:rPr lang="en-US" b="true" sz="2253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ATION STRIP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66111" y="9960002"/>
            <a:ext cx="1663411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atom count verified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66111" y="10240037"/>
            <a:ext cx="1653345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bond order checked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006589" y="10240037"/>
            <a:ext cx="2342176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same connectivity confirmed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006589" y="9960002"/>
            <a:ext cx="1385888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valence checked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0" y="7125939"/>
            <a:ext cx="3675707" cy="785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2"/>
              </a:lnSpc>
            </a:pPr>
            <a:r>
              <a:rPr lang="en-US" sz="3937" spc="37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CH</a:t>
            </a:r>
            <a:r>
              <a:rPr lang="en-US" sz="3937" spc="37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3</a:t>
            </a:r>
            <a:r>
              <a:rPr lang="en-US" sz="3937" spc="37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CH</a:t>
            </a:r>
            <a:r>
              <a:rPr lang="en-US" sz="3937" spc="37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2</a:t>
            </a:r>
            <a:r>
              <a:rPr lang="en-US" sz="3937" spc="37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CH</a:t>
            </a:r>
            <a:r>
              <a:rPr lang="en-US" sz="3937" spc="37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3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1166111" y="10020086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7" y="0"/>
                </a:lnTo>
                <a:lnTo>
                  <a:pt x="130927" y="100813"/>
                </a:lnTo>
                <a:lnTo>
                  <a:pt x="0" y="1008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1" id="51"/>
          <p:cNvSpPr/>
          <p:nvPr/>
        </p:nvSpPr>
        <p:spPr>
          <a:xfrm flipH="false" flipV="false" rot="0">
            <a:off x="1166111" y="10307741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7" y="0"/>
                </a:lnTo>
                <a:lnTo>
                  <a:pt x="130927" y="100813"/>
                </a:lnTo>
                <a:lnTo>
                  <a:pt x="0" y="1008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2" id="52"/>
          <p:cNvSpPr/>
          <p:nvPr/>
        </p:nvSpPr>
        <p:spPr>
          <a:xfrm flipH="false" flipV="false" rot="0">
            <a:off x="4006589" y="10020086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6" y="0"/>
                </a:lnTo>
                <a:lnTo>
                  <a:pt x="130926" y="100813"/>
                </a:lnTo>
                <a:lnTo>
                  <a:pt x="0" y="1008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3" id="53"/>
          <p:cNvSpPr/>
          <p:nvPr/>
        </p:nvSpPr>
        <p:spPr>
          <a:xfrm flipH="false" flipV="false" rot="0">
            <a:off x="4006589" y="10300997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6" y="0"/>
                </a:lnTo>
                <a:lnTo>
                  <a:pt x="130926" y="100814"/>
                </a:lnTo>
                <a:lnTo>
                  <a:pt x="0" y="1008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560000" cy="1557352"/>
            <a:chOff x="0" y="0"/>
            <a:chExt cx="2709333" cy="558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558120"/>
            </a:xfrm>
            <a:custGeom>
              <a:avLst/>
              <a:gdLst/>
              <a:ahLst/>
              <a:cxnLst/>
              <a:rect r="r" b="b" t="t" l="l"/>
              <a:pathLst>
                <a:path h="5581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558120"/>
                  </a:lnTo>
                  <a:lnTo>
                    <a:pt x="0" y="558120"/>
                  </a:lnTo>
                  <a:close/>
                </a:path>
              </a:pathLst>
            </a:custGeom>
            <a:gradFill rotWithShape="true">
              <a:gsLst>
                <a:gs pos="0">
                  <a:srgbClr val="87C7FF">
                    <a:alpha val="100000"/>
                  </a:srgbClr>
                </a:gs>
                <a:gs pos="100000">
                  <a:srgbClr val="D4CEF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709333" cy="586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747852"/>
            <a:ext cx="3737038" cy="3598148"/>
            <a:chOff x="0" y="0"/>
            <a:chExt cx="1339270" cy="12894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9270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9270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3737038" y="1750248"/>
            <a:ext cx="3822962" cy="3598148"/>
            <a:chOff x="0" y="0"/>
            <a:chExt cx="1370063" cy="12894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0063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70063">
                  <a:moveTo>
                    <a:pt x="0" y="0"/>
                  </a:moveTo>
                  <a:lnTo>
                    <a:pt x="1370063" y="0"/>
                  </a:lnTo>
                  <a:lnTo>
                    <a:pt x="1370063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370063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5535554"/>
            <a:ext cx="3737038" cy="3598148"/>
            <a:chOff x="0" y="0"/>
            <a:chExt cx="1339270" cy="12894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9270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339270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3780000" y="5536500"/>
            <a:ext cx="3780000" cy="3598148"/>
            <a:chOff x="0" y="0"/>
            <a:chExt cx="1354667" cy="12894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4667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54667">
                  <a:moveTo>
                    <a:pt x="0" y="0"/>
                  </a:moveTo>
                  <a:lnTo>
                    <a:pt x="1354667" y="0"/>
                  </a:lnTo>
                  <a:lnTo>
                    <a:pt x="1354667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354667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0" y="9323255"/>
            <a:ext cx="7560000" cy="1368745"/>
            <a:chOff x="0" y="0"/>
            <a:chExt cx="2709333" cy="4905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09333" cy="490527"/>
            </a:xfrm>
            <a:custGeom>
              <a:avLst/>
              <a:gdLst/>
              <a:ahLst/>
              <a:cxnLst/>
              <a:rect r="r" b="b" t="t" l="l"/>
              <a:pathLst>
                <a:path h="490527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490527"/>
                  </a:lnTo>
                  <a:lnTo>
                    <a:pt x="0" y="490527"/>
                  </a:lnTo>
                  <a:close/>
                </a:path>
              </a:pathLst>
            </a:custGeom>
            <a:gradFill rotWithShape="true">
              <a:gsLst>
                <a:gs pos="0">
                  <a:srgbClr val="87C7FF">
                    <a:alpha val="100000"/>
                  </a:srgbClr>
                </a:gs>
                <a:gs pos="100000">
                  <a:srgbClr val="CFCEFF">
                    <a:alpha val="100000"/>
                  </a:srgbClr>
                </a:gs>
              </a:gsLst>
              <a:lin ang="5400000"/>
            </a:gra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709333" cy="519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316603" y="773914"/>
            <a:ext cx="3555354" cy="360256"/>
            <a:chOff x="0" y="0"/>
            <a:chExt cx="4740472" cy="480342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66211"/>
              <a:ext cx="4740472" cy="4014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5"/>
                </a:lnSpc>
              </a:pPr>
              <a:r>
                <a:rPr lang="en-US" sz="1646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Molecular Formula:</a:t>
              </a:r>
            </a:p>
          </p:txBody>
        </p:sp>
        <p:sp>
          <p:nvSpPr>
            <p:cNvPr name="AutoShape 22" id="22"/>
            <p:cNvSpPr/>
            <p:nvPr/>
          </p:nvSpPr>
          <p:spPr>
            <a:xfrm>
              <a:off x="2428258" y="473992"/>
              <a:ext cx="1357226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3" id="23"/>
            <p:cNvSpPr txBox="true"/>
            <p:nvPr/>
          </p:nvSpPr>
          <p:spPr>
            <a:xfrm rot="0">
              <a:off x="1685953" y="-47625"/>
              <a:ext cx="2883627" cy="515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3"/>
                </a:lnSpc>
              </a:pPr>
              <a:r>
                <a:rPr lang="en-US" sz="23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</a:t>
              </a:r>
              <a:r>
                <a:rPr lang="en-US" sz="23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  <a:r>
                <a:rPr lang="en-US" sz="23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</a:t>
              </a:r>
              <a:r>
                <a:rPr lang="en-US" sz="23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6</a:t>
              </a:r>
              <a:r>
                <a:rPr lang="en-US" sz="23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5553" y="3337376"/>
            <a:ext cx="3803582" cy="86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b="true" sz="4299" spc="15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</a:t>
            </a:r>
            <a:r>
              <a:rPr lang="en-US" b="true" sz="4299" spc="15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2</a:t>
            </a:r>
            <a:r>
              <a:rPr lang="en-US" b="true" sz="4299" spc="15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H</a:t>
            </a:r>
            <a:r>
              <a:rPr lang="en-US" b="true" sz="4299" spc="15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6</a:t>
            </a:r>
            <a:r>
              <a:rPr lang="en-US" b="true" sz="4299" spc="15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0" y="1747852"/>
            <a:ext cx="3737038" cy="694326"/>
            <a:chOff x="0" y="0"/>
            <a:chExt cx="1339270" cy="2488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39270" cy="248831"/>
            </a:xfrm>
            <a:custGeom>
              <a:avLst/>
              <a:gdLst/>
              <a:ahLst/>
              <a:cxnLst/>
              <a:rect r="r" b="b" t="t" l="l"/>
              <a:pathLst>
                <a:path h="248831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339270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10800000">
            <a:off x="3737038" y="1750248"/>
            <a:ext cx="3822962" cy="694326"/>
            <a:chOff x="0" y="0"/>
            <a:chExt cx="1370063" cy="24883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70063" cy="248831"/>
            </a:xfrm>
            <a:custGeom>
              <a:avLst/>
              <a:gdLst/>
              <a:ahLst/>
              <a:cxnLst/>
              <a:rect r="r" b="b" t="t" l="l"/>
              <a:pathLst>
                <a:path h="248831" w="1370063">
                  <a:moveTo>
                    <a:pt x="0" y="0"/>
                  </a:moveTo>
                  <a:lnTo>
                    <a:pt x="1370063" y="0"/>
                  </a:lnTo>
                  <a:lnTo>
                    <a:pt x="1370063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1370063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10800000">
            <a:off x="3780000" y="5536751"/>
            <a:ext cx="3780000" cy="694326"/>
            <a:chOff x="0" y="0"/>
            <a:chExt cx="1354667" cy="24883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54667" cy="248831"/>
            </a:xfrm>
            <a:custGeom>
              <a:avLst/>
              <a:gdLst/>
              <a:ahLst/>
              <a:cxnLst/>
              <a:rect r="r" b="b" t="t" l="l"/>
              <a:pathLst>
                <a:path h="248831" w="1354667">
                  <a:moveTo>
                    <a:pt x="0" y="0"/>
                  </a:moveTo>
                  <a:lnTo>
                    <a:pt x="1354667" y="0"/>
                  </a:lnTo>
                  <a:lnTo>
                    <a:pt x="1354667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354667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0" y="5536500"/>
            <a:ext cx="3737038" cy="694326"/>
            <a:chOff x="0" y="0"/>
            <a:chExt cx="1339270" cy="24883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39270" cy="248831"/>
            </a:xfrm>
            <a:custGeom>
              <a:avLst/>
              <a:gdLst/>
              <a:ahLst/>
              <a:cxnLst/>
              <a:rect r="r" b="b" t="t" l="l"/>
              <a:pathLst>
                <a:path h="248831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1339270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3932693" y="2871570"/>
            <a:ext cx="3474613" cy="2012733"/>
          </a:xfrm>
          <a:custGeom>
            <a:avLst/>
            <a:gdLst/>
            <a:ahLst/>
            <a:cxnLst/>
            <a:rect r="r" b="b" t="t" l="l"/>
            <a:pathLst>
              <a:path h="2012733" w="3474613">
                <a:moveTo>
                  <a:pt x="0" y="0"/>
                </a:moveTo>
                <a:lnTo>
                  <a:pt x="3474614" y="0"/>
                </a:lnTo>
                <a:lnTo>
                  <a:pt x="3474614" y="2012733"/>
                </a:lnTo>
                <a:lnTo>
                  <a:pt x="0" y="20127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-71852">
            <a:off x="4317517" y="7035458"/>
            <a:ext cx="3024000" cy="1237091"/>
          </a:xfrm>
          <a:custGeom>
            <a:avLst/>
            <a:gdLst/>
            <a:ahLst/>
            <a:cxnLst/>
            <a:rect r="r" b="b" t="t" l="l"/>
            <a:pathLst>
              <a:path h="1237091" w="3024000">
                <a:moveTo>
                  <a:pt x="0" y="0"/>
                </a:moveTo>
                <a:lnTo>
                  <a:pt x="3024000" y="0"/>
                </a:lnTo>
                <a:lnTo>
                  <a:pt x="3024000" y="1237091"/>
                </a:lnTo>
                <a:lnTo>
                  <a:pt x="0" y="1237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933386" y="327320"/>
            <a:ext cx="3693227" cy="451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2"/>
              </a:lnSpc>
            </a:pPr>
            <a:r>
              <a:rPr lang="en-US" sz="2687" b="true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C</a:t>
            </a:r>
            <a:r>
              <a:rPr lang="en-US" b="true" sz="2687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ARD 02 — Ethanol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0842" y="1896854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531" indent="-177765" lvl="1">
              <a:lnSpc>
                <a:spcPts val="2305"/>
              </a:lnSpc>
              <a:buAutoNum type="arabicPeriod" startAt="1"/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Molecular Formula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870842" y="1899250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531" indent="-177765" lvl="1">
              <a:lnSpc>
                <a:spcPts val="2305"/>
              </a:lnSpc>
              <a:buAutoNum type="arabicPeriod" startAt="1"/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Lewis Structure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0" y="5688900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531" indent="-177765" lvl="1">
              <a:lnSpc>
                <a:spcPts val="2305"/>
              </a:lnSpc>
              <a:buAutoNum type="arabicPeriod" startAt="1"/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Condensed Structural Formula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094280" y="5688900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4.   Bond-line Formula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189408" y="9506123"/>
            <a:ext cx="3181184" cy="38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4"/>
              </a:lnSpc>
            </a:pPr>
            <a:r>
              <a:rPr lang="en-US" sz="2253" b="true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VERIFIC</a:t>
            </a:r>
            <a:r>
              <a:rPr lang="en-US" b="true" sz="2253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ATION STRIP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66111" y="9960002"/>
            <a:ext cx="1663411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atom count verified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66111" y="10240037"/>
            <a:ext cx="1653345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bond order checked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006589" y="10240037"/>
            <a:ext cx="2342176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same connectivity confirmed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006589" y="9960002"/>
            <a:ext cx="1385888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valence checked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-66543" y="6859476"/>
            <a:ext cx="3803582" cy="86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spc="15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CH</a:t>
            </a:r>
            <a:r>
              <a:rPr lang="en-US" sz="4299" spc="15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3</a:t>
            </a:r>
            <a:r>
              <a:rPr lang="en-US" sz="4299" spc="15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</a:t>
            </a:r>
            <a:r>
              <a:rPr lang="en-US" sz="4299" spc="15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H</a:t>
            </a:r>
            <a:r>
              <a:rPr lang="en-US" sz="4299" spc="15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2</a:t>
            </a:r>
            <a:r>
              <a:rPr lang="en-US" sz="4299" spc="159">
                <a:solidFill>
                  <a:srgbClr val="FF0D0D"/>
                </a:solidFill>
                <a:latin typeface="Agrandir"/>
                <a:ea typeface="Agrandir"/>
                <a:cs typeface="Agrandir"/>
                <a:sym typeface="Agrandir"/>
              </a:rPr>
              <a:t>O</a:t>
            </a:r>
            <a:r>
              <a:rPr lang="en-US" sz="4299" spc="15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H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1166111" y="10026358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7" y="0"/>
                </a:lnTo>
                <a:lnTo>
                  <a:pt x="130927" y="100814"/>
                </a:lnTo>
                <a:lnTo>
                  <a:pt x="0" y="1008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1" id="51"/>
          <p:cNvSpPr/>
          <p:nvPr/>
        </p:nvSpPr>
        <p:spPr>
          <a:xfrm flipH="false" flipV="false" rot="0">
            <a:off x="4006589" y="10026358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6" y="0"/>
                </a:lnTo>
                <a:lnTo>
                  <a:pt x="130926" y="100814"/>
                </a:lnTo>
                <a:lnTo>
                  <a:pt x="0" y="1008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2" id="52"/>
          <p:cNvSpPr/>
          <p:nvPr/>
        </p:nvSpPr>
        <p:spPr>
          <a:xfrm flipH="false" flipV="false" rot="0">
            <a:off x="4006589" y="10300997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6" y="0"/>
                </a:lnTo>
                <a:lnTo>
                  <a:pt x="130926" y="100814"/>
                </a:lnTo>
                <a:lnTo>
                  <a:pt x="0" y="1008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3" id="53"/>
          <p:cNvSpPr/>
          <p:nvPr/>
        </p:nvSpPr>
        <p:spPr>
          <a:xfrm flipH="false" flipV="false" rot="0">
            <a:off x="1166111" y="10300997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7" y="0"/>
                </a:lnTo>
                <a:lnTo>
                  <a:pt x="130927" y="100814"/>
                </a:lnTo>
                <a:lnTo>
                  <a:pt x="0" y="1008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560000" cy="1557352"/>
            <a:chOff x="0" y="0"/>
            <a:chExt cx="2709333" cy="558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558120"/>
            </a:xfrm>
            <a:custGeom>
              <a:avLst/>
              <a:gdLst/>
              <a:ahLst/>
              <a:cxnLst/>
              <a:rect r="r" b="b" t="t" l="l"/>
              <a:pathLst>
                <a:path h="5581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558120"/>
                  </a:lnTo>
                  <a:lnTo>
                    <a:pt x="0" y="558120"/>
                  </a:lnTo>
                  <a:close/>
                </a:path>
              </a:pathLst>
            </a:custGeom>
            <a:gradFill rotWithShape="true">
              <a:gsLst>
                <a:gs pos="0">
                  <a:srgbClr val="87C7FF">
                    <a:alpha val="100000"/>
                  </a:srgbClr>
                </a:gs>
                <a:gs pos="100000">
                  <a:srgbClr val="D4CEF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709333" cy="586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747852"/>
            <a:ext cx="3737038" cy="3598148"/>
            <a:chOff x="0" y="0"/>
            <a:chExt cx="1339270" cy="12894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9270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9270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3737038" y="1750248"/>
            <a:ext cx="3822962" cy="3598148"/>
            <a:chOff x="0" y="0"/>
            <a:chExt cx="1370063" cy="12894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0063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70063">
                  <a:moveTo>
                    <a:pt x="0" y="0"/>
                  </a:moveTo>
                  <a:lnTo>
                    <a:pt x="1370063" y="0"/>
                  </a:lnTo>
                  <a:lnTo>
                    <a:pt x="1370063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370063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5535554"/>
            <a:ext cx="3737038" cy="3598148"/>
            <a:chOff x="0" y="0"/>
            <a:chExt cx="1339270" cy="12894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9270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339270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3780000" y="5536500"/>
            <a:ext cx="3780000" cy="3598148"/>
            <a:chOff x="0" y="0"/>
            <a:chExt cx="1354667" cy="12894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4667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54667">
                  <a:moveTo>
                    <a:pt x="0" y="0"/>
                  </a:moveTo>
                  <a:lnTo>
                    <a:pt x="1354667" y="0"/>
                  </a:lnTo>
                  <a:lnTo>
                    <a:pt x="1354667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354667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0" y="9323255"/>
            <a:ext cx="7560000" cy="1368745"/>
            <a:chOff x="0" y="0"/>
            <a:chExt cx="2709333" cy="4905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09333" cy="490527"/>
            </a:xfrm>
            <a:custGeom>
              <a:avLst/>
              <a:gdLst/>
              <a:ahLst/>
              <a:cxnLst/>
              <a:rect r="r" b="b" t="t" l="l"/>
              <a:pathLst>
                <a:path h="490527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490527"/>
                  </a:lnTo>
                  <a:lnTo>
                    <a:pt x="0" y="490527"/>
                  </a:lnTo>
                  <a:close/>
                </a:path>
              </a:pathLst>
            </a:custGeom>
            <a:gradFill rotWithShape="true">
              <a:gsLst>
                <a:gs pos="0">
                  <a:srgbClr val="87C7FF">
                    <a:alpha val="100000"/>
                  </a:srgbClr>
                </a:gs>
                <a:gs pos="100000">
                  <a:srgbClr val="CFCEFF">
                    <a:alpha val="100000"/>
                  </a:srgbClr>
                </a:gs>
              </a:gsLst>
              <a:lin ang="5400000"/>
            </a:gra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709333" cy="519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316603" y="778676"/>
            <a:ext cx="3555354" cy="355494"/>
            <a:chOff x="0" y="0"/>
            <a:chExt cx="4740472" cy="473992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59861"/>
              <a:ext cx="4740472" cy="4014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5"/>
                </a:lnSpc>
              </a:pPr>
              <a:r>
                <a:rPr lang="en-US" sz="1646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Molecular Formula:</a:t>
              </a:r>
            </a:p>
          </p:txBody>
        </p:sp>
        <p:sp>
          <p:nvSpPr>
            <p:cNvPr name="AutoShape 22" id="22"/>
            <p:cNvSpPr/>
            <p:nvPr/>
          </p:nvSpPr>
          <p:spPr>
            <a:xfrm>
              <a:off x="2428258" y="467642"/>
              <a:ext cx="1357226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3" id="23"/>
            <p:cNvSpPr txBox="true"/>
            <p:nvPr/>
          </p:nvSpPr>
          <p:spPr>
            <a:xfrm rot="0">
              <a:off x="1708647" y="-47625"/>
              <a:ext cx="2883627" cy="515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3"/>
                </a:lnSpc>
              </a:pPr>
              <a:r>
                <a:rPr lang="en-US" sz="23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</a:t>
              </a:r>
              <a:r>
                <a:rPr lang="en-US" sz="23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  <a:r>
                <a:rPr lang="en-US" sz="23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</a:t>
              </a:r>
              <a:r>
                <a:rPr lang="en-US" sz="23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6</a:t>
              </a:r>
              <a:r>
                <a:rPr lang="en-US" sz="23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787159" y="3337376"/>
            <a:ext cx="2162721" cy="86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</a:t>
            </a:r>
            <a:r>
              <a:rPr lang="en-US" sz="42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3</a:t>
            </a:r>
            <a:r>
              <a:rPr lang="en-US" sz="42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H</a:t>
            </a:r>
            <a:r>
              <a:rPr lang="en-US" sz="42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6</a:t>
            </a:r>
            <a:r>
              <a:rPr lang="en-US" sz="42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0" y="1747852"/>
            <a:ext cx="3737038" cy="694326"/>
            <a:chOff x="0" y="0"/>
            <a:chExt cx="1339270" cy="2488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39270" cy="248831"/>
            </a:xfrm>
            <a:custGeom>
              <a:avLst/>
              <a:gdLst/>
              <a:ahLst/>
              <a:cxnLst/>
              <a:rect r="r" b="b" t="t" l="l"/>
              <a:pathLst>
                <a:path h="248831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339270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10800000">
            <a:off x="3737038" y="1750248"/>
            <a:ext cx="3822962" cy="694326"/>
            <a:chOff x="0" y="0"/>
            <a:chExt cx="1370063" cy="24883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70063" cy="248831"/>
            </a:xfrm>
            <a:custGeom>
              <a:avLst/>
              <a:gdLst/>
              <a:ahLst/>
              <a:cxnLst/>
              <a:rect r="r" b="b" t="t" l="l"/>
              <a:pathLst>
                <a:path h="248831" w="1370063">
                  <a:moveTo>
                    <a:pt x="0" y="0"/>
                  </a:moveTo>
                  <a:lnTo>
                    <a:pt x="1370063" y="0"/>
                  </a:lnTo>
                  <a:lnTo>
                    <a:pt x="1370063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1370063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10800000">
            <a:off x="3780000" y="5536751"/>
            <a:ext cx="3780000" cy="694326"/>
            <a:chOff x="0" y="0"/>
            <a:chExt cx="1354667" cy="24883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54667" cy="248831"/>
            </a:xfrm>
            <a:custGeom>
              <a:avLst/>
              <a:gdLst/>
              <a:ahLst/>
              <a:cxnLst/>
              <a:rect r="r" b="b" t="t" l="l"/>
              <a:pathLst>
                <a:path h="248831" w="1354667">
                  <a:moveTo>
                    <a:pt x="0" y="0"/>
                  </a:moveTo>
                  <a:lnTo>
                    <a:pt x="1354667" y="0"/>
                  </a:lnTo>
                  <a:lnTo>
                    <a:pt x="1354667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354667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0" y="5536500"/>
            <a:ext cx="3737038" cy="694326"/>
            <a:chOff x="0" y="0"/>
            <a:chExt cx="1339270" cy="24883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39270" cy="248831"/>
            </a:xfrm>
            <a:custGeom>
              <a:avLst/>
              <a:gdLst/>
              <a:ahLst/>
              <a:cxnLst/>
              <a:rect r="r" b="b" t="t" l="l"/>
              <a:pathLst>
                <a:path h="248831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1339270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3510812" y="2760107"/>
            <a:ext cx="4171085" cy="2329064"/>
          </a:xfrm>
          <a:custGeom>
            <a:avLst/>
            <a:gdLst/>
            <a:ahLst/>
            <a:cxnLst/>
            <a:rect r="r" b="b" t="t" l="l"/>
            <a:pathLst>
              <a:path h="2329064" w="4171085">
                <a:moveTo>
                  <a:pt x="0" y="0"/>
                </a:moveTo>
                <a:lnTo>
                  <a:pt x="4171085" y="0"/>
                </a:lnTo>
                <a:lnTo>
                  <a:pt x="4171085" y="2329064"/>
                </a:lnTo>
                <a:lnTo>
                  <a:pt x="0" y="23290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4699532" y="6435978"/>
            <a:ext cx="2114779" cy="2030187"/>
          </a:xfrm>
          <a:custGeom>
            <a:avLst/>
            <a:gdLst/>
            <a:ahLst/>
            <a:cxnLst/>
            <a:rect r="r" b="b" t="t" l="l"/>
            <a:pathLst>
              <a:path h="2030187" w="2114779">
                <a:moveTo>
                  <a:pt x="0" y="0"/>
                </a:moveTo>
                <a:lnTo>
                  <a:pt x="2114779" y="0"/>
                </a:lnTo>
                <a:lnTo>
                  <a:pt x="2114779" y="2030188"/>
                </a:lnTo>
                <a:lnTo>
                  <a:pt x="0" y="20301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503208" y="327320"/>
            <a:ext cx="6553585" cy="451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2"/>
              </a:lnSpc>
            </a:pPr>
            <a:r>
              <a:rPr lang="en-US" sz="2687" b="true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C</a:t>
            </a:r>
            <a:r>
              <a:rPr lang="en-US" b="true" sz="2687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ARD 03 — Acetone (propan-2-one)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0842" y="1896854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531" indent="-177765" lvl="1">
              <a:lnSpc>
                <a:spcPts val="2305"/>
              </a:lnSpc>
              <a:buAutoNum type="arabicPeriod" startAt="1"/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Molecular Formula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870842" y="1899250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531" indent="-177765" lvl="1">
              <a:lnSpc>
                <a:spcPts val="2305"/>
              </a:lnSpc>
              <a:buAutoNum type="arabicPeriod" startAt="1"/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Lewis Structure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-44542" y="5688900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531" indent="-177765" lvl="1">
              <a:lnSpc>
                <a:spcPts val="2305"/>
              </a:lnSpc>
              <a:buAutoNum type="arabicPeriod" startAt="1"/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Condensed Structural Formula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094280" y="5688900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4.   Bond-line Formula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189408" y="9506123"/>
            <a:ext cx="3181184" cy="38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4"/>
              </a:lnSpc>
            </a:pPr>
            <a:r>
              <a:rPr lang="en-US" sz="2253" b="true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VERIFIC</a:t>
            </a:r>
            <a:r>
              <a:rPr lang="en-US" b="true" sz="2253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ATION STRIP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66111" y="9960002"/>
            <a:ext cx="1663411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atom count verified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66111" y="10240037"/>
            <a:ext cx="1653345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bond order checked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006589" y="10240037"/>
            <a:ext cx="2342176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same connectivity confirmed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006589" y="9960002"/>
            <a:ext cx="1385888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valence checked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-269550" y="7125077"/>
            <a:ext cx="4276139" cy="86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CH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3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</a:t>
            </a:r>
            <a:r>
              <a:rPr lang="en-US" sz="4299">
                <a:solidFill>
                  <a:srgbClr val="FF0D0D"/>
                </a:solidFill>
                <a:latin typeface="Agrandir"/>
                <a:ea typeface="Agrandir"/>
                <a:cs typeface="Agrandir"/>
                <a:sym typeface="Agrandir"/>
              </a:rPr>
              <a:t>O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CH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3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1166111" y="10027729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7" y="0"/>
                </a:lnTo>
                <a:lnTo>
                  <a:pt x="130927" y="100813"/>
                </a:lnTo>
                <a:lnTo>
                  <a:pt x="0" y="1008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1" id="51"/>
          <p:cNvSpPr/>
          <p:nvPr/>
        </p:nvSpPr>
        <p:spPr>
          <a:xfrm flipH="false" flipV="false" rot="0">
            <a:off x="1166111" y="10302902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7" y="0"/>
                </a:lnTo>
                <a:lnTo>
                  <a:pt x="130927" y="100814"/>
                </a:lnTo>
                <a:lnTo>
                  <a:pt x="0" y="1008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2" id="52"/>
          <p:cNvSpPr/>
          <p:nvPr/>
        </p:nvSpPr>
        <p:spPr>
          <a:xfrm flipH="false" flipV="false" rot="0">
            <a:off x="4006589" y="10302902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6" y="0"/>
                </a:lnTo>
                <a:lnTo>
                  <a:pt x="130926" y="100814"/>
                </a:lnTo>
                <a:lnTo>
                  <a:pt x="0" y="1008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3" id="53"/>
          <p:cNvSpPr/>
          <p:nvPr/>
        </p:nvSpPr>
        <p:spPr>
          <a:xfrm flipH="false" flipV="false" rot="0">
            <a:off x="4006589" y="10027729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6" y="0"/>
                </a:lnTo>
                <a:lnTo>
                  <a:pt x="130926" y="100813"/>
                </a:lnTo>
                <a:lnTo>
                  <a:pt x="0" y="1008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560000" cy="1557352"/>
            <a:chOff x="0" y="0"/>
            <a:chExt cx="2709333" cy="558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558120"/>
            </a:xfrm>
            <a:custGeom>
              <a:avLst/>
              <a:gdLst/>
              <a:ahLst/>
              <a:cxnLst/>
              <a:rect r="r" b="b" t="t" l="l"/>
              <a:pathLst>
                <a:path h="5581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558120"/>
                  </a:lnTo>
                  <a:lnTo>
                    <a:pt x="0" y="558120"/>
                  </a:lnTo>
                  <a:close/>
                </a:path>
              </a:pathLst>
            </a:custGeom>
            <a:gradFill rotWithShape="true">
              <a:gsLst>
                <a:gs pos="0">
                  <a:srgbClr val="87C7FF">
                    <a:alpha val="100000"/>
                  </a:srgbClr>
                </a:gs>
                <a:gs pos="100000">
                  <a:srgbClr val="D4CEF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709333" cy="586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747852"/>
            <a:ext cx="3737038" cy="3598148"/>
            <a:chOff x="0" y="0"/>
            <a:chExt cx="1339270" cy="12894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9270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9270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3737038" y="1750248"/>
            <a:ext cx="3822962" cy="3598148"/>
            <a:chOff x="0" y="0"/>
            <a:chExt cx="1370063" cy="12894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0063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70063">
                  <a:moveTo>
                    <a:pt x="0" y="0"/>
                  </a:moveTo>
                  <a:lnTo>
                    <a:pt x="1370063" y="0"/>
                  </a:lnTo>
                  <a:lnTo>
                    <a:pt x="1370063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370063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5535554"/>
            <a:ext cx="3737038" cy="3598148"/>
            <a:chOff x="0" y="0"/>
            <a:chExt cx="1339270" cy="12894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9270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339270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3780000" y="5536500"/>
            <a:ext cx="3780000" cy="3598148"/>
            <a:chOff x="0" y="0"/>
            <a:chExt cx="1354667" cy="12894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4667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54667">
                  <a:moveTo>
                    <a:pt x="0" y="0"/>
                  </a:moveTo>
                  <a:lnTo>
                    <a:pt x="1354667" y="0"/>
                  </a:lnTo>
                  <a:lnTo>
                    <a:pt x="1354667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354667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0" y="9323255"/>
            <a:ext cx="7560000" cy="1368745"/>
            <a:chOff x="0" y="0"/>
            <a:chExt cx="2709333" cy="4905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09333" cy="490527"/>
            </a:xfrm>
            <a:custGeom>
              <a:avLst/>
              <a:gdLst/>
              <a:ahLst/>
              <a:cxnLst/>
              <a:rect r="r" b="b" t="t" l="l"/>
              <a:pathLst>
                <a:path h="490527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490527"/>
                  </a:lnTo>
                  <a:lnTo>
                    <a:pt x="0" y="490527"/>
                  </a:lnTo>
                  <a:close/>
                </a:path>
              </a:pathLst>
            </a:custGeom>
            <a:gradFill rotWithShape="true">
              <a:gsLst>
                <a:gs pos="0">
                  <a:srgbClr val="87C7FF">
                    <a:alpha val="100000"/>
                  </a:srgbClr>
                </a:gs>
                <a:gs pos="100000">
                  <a:srgbClr val="CFCEFF">
                    <a:alpha val="100000"/>
                  </a:srgbClr>
                </a:gs>
              </a:gsLst>
              <a:lin ang="5400000"/>
            </a:gra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709333" cy="519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316603" y="804522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Molecular Formula:</a:t>
            </a:r>
          </a:p>
        </p:txBody>
      </p:sp>
      <p:sp>
        <p:nvSpPr>
          <p:cNvPr name="AutoShape 21" id="21"/>
          <p:cNvSpPr/>
          <p:nvPr/>
        </p:nvSpPr>
        <p:spPr>
          <a:xfrm flipV="true">
            <a:off x="4137796" y="1124645"/>
            <a:ext cx="1267350" cy="4762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3646196" y="726289"/>
            <a:ext cx="2162721" cy="398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3"/>
              </a:lnSpc>
            </a:pPr>
            <a:r>
              <a:rPr lang="en-US" sz="231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31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-US" sz="231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lang="en-US" sz="231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n-US" sz="231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231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87159" y="3341523"/>
            <a:ext cx="2162721" cy="86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</a:t>
            </a:r>
            <a:r>
              <a:rPr lang="en-US" sz="42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2</a:t>
            </a:r>
            <a:r>
              <a:rPr lang="en-US" sz="42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H</a:t>
            </a:r>
            <a:r>
              <a:rPr lang="en-US" sz="42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4</a:t>
            </a:r>
            <a:r>
              <a:rPr lang="en-US" sz="42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</a:t>
            </a:r>
            <a:r>
              <a:rPr lang="en-US" sz="42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2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0" y="1747852"/>
            <a:ext cx="3737038" cy="694326"/>
            <a:chOff x="0" y="0"/>
            <a:chExt cx="1339270" cy="2488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39270" cy="248831"/>
            </a:xfrm>
            <a:custGeom>
              <a:avLst/>
              <a:gdLst/>
              <a:ahLst/>
              <a:cxnLst/>
              <a:rect r="r" b="b" t="t" l="l"/>
              <a:pathLst>
                <a:path h="248831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1339270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10800000">
            <a:off x="3737038" y="1750248"/>
            <a:ext cx="3822962" cy="694326"/>
            <a:chOff x="0" y="0"/>
            <a:chExt cx="1370063" cy="24883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70063" cy="248831"/>
            </a:xfrm>
            <a:custGeom>
              <a:avLst/>
              <a:gdLst/>
              <a:ahLst/>
              <a:cxnLst/>
              <a:rect r="r" b="b" t="t" l="l"/>
              <a:pathLst>
                <a:path h="248831" w="1370063">
                  <a:moveTo>
                    <a:pt x="0" y="0"/>
                  </a:moveTo>
                  <a:lnTo>
                    <a:pt x="1370063" y="0"/>
                  </a:lnTo>
                  <a:lnTo>
                    <a:pt x="1370063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370063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10800000">
            <a:off x="3780000" y="5536751"/>
            <a:ext cx="3780000" cy="694326"/>
            <a:chOff x="0" y="0"/>
            <a:chExt cx="1354667" cy="24883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54667" cy="248831"/>
            </a:xfrm>
            <a:custGeom>
              <a:avLst/>
              <a:gdLst/>
              <a:ahLst/>
              <a:cxnLst/>
              <a:rect r="r" b="b" t="t" l="l"/>
              <a:pathLst>
                <a:path h="248831" w="1354667">
                  <a:moveTo>
                    <a:pt x="0" y="0"/>
                  </a:moveTo>
                  <a:lnTo>
                    <a:pt x="1354667" y="0"/>
                  </a:lnTo>
                  <a:lnTo>
                    <a:pt x="1354667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1354667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0" y="5536500"/>
            <a:ext cx="3737038" cy="694326"/>
            <a:chOff x="0" y="0"/>
            <a:chExt cx="1339270" cy="24883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39270" cy="248831"/>
            </a:xfrm>
            <a:custGeom>
              <a:avLst/>
              <a:gdLst/>
              <a:ahLst/>
              <a:cxnLst/>
              <a:rect r="r" b="b" t="t" l="l"/>
              <a:pathLst>
                <a:path h="248831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1339270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3588433" y="2770292"/>
            <a:ext cx="3971567" cy="2214342"/>
          </a:xfrm>
          <a:custGeom>
            <a:avLst/>
            <a:gdLst/>
            <a:ahLst/>
            <a:cxnLst/>
            <a:rect r="r" b="b" t="t" l="l"/>
            <a:pathLst>
              <a:path h="2214342" w="3971567">
                <a:moveTo>
                  <a:pt x="0" y="0"/>
                </a:moveTo>
                <a:lnTo>
                  <a:pt x="3971567" y="0"/>
                </a:lnTo>
                <a:lnTo>
                  <a:pt x="3971567" y="2214342"/>
                </a:lnTo>
                <a:lnTo>
                  <a:pt x="0" y="22143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4347000" y="6554928"/>
            <a:ext cx="2646000" cy="2318966"/>
          </a:xfrm>
          <a:custGeom>
            <a:avLst/>
            <a:gdLst/>
            <a:ahLst/>
            <a:cxnLst/>
            <a:rect r="r" b="b" t="t" l="l"/>
            <a:pathLst>
              <a:path h="2318966" w="2646000">
                <a:moveTo>
                  <a:pt x="0" y="0"/>
                </a:moveTo>
                <a:lnTo>
                  <a:pt x="2646000" y="0"/>
                </a:lnTo>
                <a:lnTo>
                  <a:pt x="2646000" y="2318966"/>
                </a:lnTo>
                <a:lnTo>
                  <a:pt x="0" y="23189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54376" y="327320"/>
            <a:ext cx="7251248" cy="451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2"/>
              </a:lnSpc>
            </a:pPr>
            <a:r>
              <a:rPr lang="en-US" sz="2687" b="true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C</a:t>
            </a:r>
            <a:r>
              <a:rPr lang="en-US" b="true" sz="2687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ARD 04 — Acetic acid (ethanoic acid)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0842" y="1896854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531" indent="-177765" lvl="1">
              <a:lnSpc>
                <a:spcPts val="2305"/>
              </a:lnSpc>
              <a:buAutoNum type="arabicPeriod" startAt="1"/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Molecular Formula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870842" y="1899250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531" indent="-177765" lvl="1">
              <a:lnSpc>
                <a:spcPts val="2305"/>
              </a:lnSpc>
              <a:buAutoNum type="arabicPeriod" startAt="1"/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Lewis Structure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0" y="5688900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531" indent="-177765" lvl="1">
              <a:lnSpc>
                <a:spcPts val="2305"/>
              </a:lnSpc>
              <a:buAutoNum type="arabicPeriod" startAt="1"/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Condensed Structural Formula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094280" y="5688900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4.   Bond-line Formula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189408" y="9506123"/>
            <a:ext cx="3181184" cy="38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4"/>
              </a:lnSpc>
            </a:pPr>
            <a:r>
              <a:rPr lang="en-US" sz="2253" b="true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VERIFIC</a:t>
            </a:r>
            <a:r>
              <a:rPr lang="en-US" b="true" sz="2253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ATION STRIP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66111" y="9960002"/>
            <a:ext cx="1663411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atom count verified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66111" y="10240037"/>
            <a:ext cx="1653345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bond order checked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006589" y="10240037"/>
            <a:ext cx="2342176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same connectivity confirmed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006589" y="9960002"/>
            <a:ext cx="1385888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valence checked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-375900" y="6993078"/>
            <a:ext cx="4513696" cy="86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CH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3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</a:t>
            </a:r>
            <a:r>
              <a:rPr lang="en-US" sz="4299">
                <a:solidFill>
                  <a:srgbClr val="FF0D0D"/>
                </a:solidFill>
                <a:latin typeface="Agrandir"/>
                <a:ea typeface="Agrandir"/>
                <a:cs typeface="Agrandir"/>
                <a:sym typeface="Agrandir"/>
              </a:rPr>
              <a:t>OO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H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1166111" y="10029892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7" y="0"/>
                </a:lnTo>
                <a:lnTo>
                  <a:pt x="130927" y="100814"/>
                </a:lnTo>
                <a:lnTo>
                  <a:pt x="0" y="1008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0" id="50"/>
          <p:cNvSpPr/>
          <p:nvPr/>
        </p:nvSpPr>
        <p:spPr>
          <a:xfrm flipH="false" flipV="false" rot="0">
            <a:off x="1166111" y="10304212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7" y="0"/>
                </a:lnTo>
                <a:lnTo>
                  <a:pt x="130927" y="100814"/>
                </a:lnTo>
                <a:lnTo>
                  <a:pt x="0" y="1008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1" id="51"/>
          <p:cNvSpPr/>
          <p:nvPr/>
        </p:nvSpPr>
        <p:spPr>
          <a:xfrm flipH="false" flipV="false" rot="0">
            <a:off x="4006589" y="10029892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6" y="0"/>
                </a:lnTo>
                <a:lnTo>
                  <a:pt x="130926" y="100814"/>
                </a:lnTo>
                <a:lnTo>
                  <a:pt x="0" y="1008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2" id="52"/>
          <p:cNvSpPr/>
          <p:nvPr/>
        </p:nvSpPr>
        <p:spPr>
          <a:xfrm flipH="false" flipV="false" rot="0">
            <a:off x="4006869" y="10304212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7" y="0"/>
                </a:lnTo>
                <a:lnTo>
                  <a:pt x="130927" y="100814"/>
                </a:lnTo>
                <a:lnTo>
                  <a:pt x="0" y="1008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560000" cy="1557352"/>
            <a:chOff x="0" y="0"/>
            <a:chExt cx="2709333" cy="558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558120"/>
            </a:xfrm>
            <a:custGeom>
              <a:avLst/>
              <a:gdLst/>
              <a:ahLst/>
              <a:cxnLst/>
              <a:rect r="r" b="b" t="t" l="l"/>
              <a:pathLst>
                <a:path h="5581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558120"/>
                  </a:lnTo>
                  <a:lnTo>
                    <a:pt x="0" y="558120"/>
                  </a:lnTo>
                  <a:close/>
                </a:path>
              </a:pathLst>
            </a:custGeom>
            <a:gradFill rotWithShape="true">
              <a:gsLst>
                <a:gs pos="0">
                  <a:srgbClr val="87C7FF">
                    <a:alpha val="100000"/>
                  </a:srgbClr>
                </a:gs>
                <a:gs pos="100000">
                  <a:srgbClr val="D4CEF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709333" cy="586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747852"/>
            <a:ext cx="3737038" cy="3598148"/>
            <a:chOff x="0" y="0"/>
            <a:chExt cx="1339270" cy="12894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9270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9270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3737038" y="1750248"/>
            <a:ext cx="3822962" cy="3598148"/>
            <a:chOff x="0" y="0"/>
            <a:chExt cx="1370063" cy="12894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0063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70063">
                  <a:moveTo>
                    <a:pt x="0" y="0"/>
                  </a:moveTo>
                  <a:lnTo>
                    <a:pt x="1370063" y="0"/>
                  </a:lnTo>
                  <a:lnTo>
                    <a:pt x="1370063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370063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5535554"/>
            <a:ext cx="3737038" cy="3598148"/>
            <a:chOff x="0" y="0"/>
            <a:chExt cx="1339270" cy="12894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9270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339270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3780000" y="5536500"/>
            <a:ext cx="3780000" cy="3598148"/>
            <a:chOff x="0" y="0"/>
            <a:chExt cx="1354667" cy="12894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4667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54667">
                  <a:moveTo>
                    <a:pt x="0" y="0"/>
                  </a:moveTo>
                  <a:lnTo>
                    <a:pt x="1354667" y="0"/>
                  </a:lnTo>
                  <a:lnTo>
                    <a:pt x="1354667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354667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0" y="9323255"/>
            <a:ext cx="7560000" cy="1368745"/>
            <a:chOff x="0" y="0"/>
            <a:chExt cx="2709333" cy="4905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09333" cy="490527"/>
            </a:xfrm>
            <a:custGeom>
              <a:avLst/>
              <a:gdLst/>
              <a:ahLst/>
              <a:cxnLst/>
              <a:rect r="r" b="b" t="t" l="l"/>
              <a:pathLst>
                <a:path h="490527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490527"/>
                  </a:lnTo>
                  <a:lnTo>
                    <a:pt x="0" y="490527"/>
                  </a:lnTo>
                  <a:close/>
                </a:path>
              </a:pathLst>
            </a:custGeom>
            <a:gradFill rotWithShape="true">
              <a:gsLst>
                <a:gs pos="0">
                  <a:srgbClr val="87C7FF">
                    <a:alpha val="100000"/>
                  </a:srgbClr>
                </a:gs>
                <a:gs pos="100000">
                  <a:srgbClr val="CFCEFF">
                    <a:alpha val="100000"/>
                  </a:srgbClr>
                </a:gs>
              </a:gsLst>
              <a:lin ang="5400000"/>
            </a:gra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709333" cy="519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316603" y="944683"/>
            <a:ext cx="3555354" cy="355494"/>
            <a:chOff x="0" y="0"/>
            <a:chExt cx="4740472" cy="473992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59861"/>
              <a:ext cx="4740472" cy="4014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5"/>
                </a:lnSpc>
              </a:pPr>
              <a:r>
                <a:rPr lang="en-US" sz="1646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Molecular Formula:</a:t>
              </a:r>
            </a:p>
          </p:txBody>
        </p:sp>
        <p:sp>
          <p:nvSpPr>
            <p:cNvPr name="AutoShape 22" id="22"/>
            <p:cNvSpPr/>
            <p:nvPr/>
          </p:nvSpPr>
          <p:spPr>
            <a:xfrm flipV="true">
              <a:off x="2428258" y="461292"/>
              <a:ext cx="1571959" cy="635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3" id="23"/>
            <p:cNvSpPr txBox="true"/>
            <p:nvPr/>
          </p:nvSpPr>
          <p:spPr>
            <a:xfrm rot="0">
              <a:off x="1768532" y="-47625"/>
              <a:ext cx="2883627" cy="515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3"/>
                </a:lnSpc>
              </a:pPr>
              <a:r>
                <a:rPr lang="en-US" sz="23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</a:t>
              </a:r>
              <a:r>
                <a:rPr lang="en-US" sz="23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</a:t>
              </a:r>
              <a:r>
                <a:rPr lang="en-US" sz="23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</a:t>
              </a:r>
              <a:r>
                <a:rPr lang="en-US" sz="23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8</a:t>
              </a:r>
              <a:r>
                <a:rPr lang="en-US" sz="23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</a:t>
              </a:r>
              <a:r>
                <a:rPr lang="en-US" sz="23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756000" y="3125286"/>
            <a:ext cx="2162721" cy="86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</a:t>
            </a:r>
            <a:r>
              <a:rPr lang="en-US" sz="42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4</a:t>
            </a:r>
            <a:r>
              <a:rPr lang="en-US" sz="42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H</a:t>
            </a:r>
            <a:r>
              <a:rPr lang="en-US" sz="42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8</a:t>
            </a:r>
            <a:r>
              <a:rPr lang="en-US" sz="42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</a:t>
            </a:r>
            <a:r>
              <a:rPr lang="en-US" sz="42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2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0" y="1747852"/>
            <a:ext cx="3737038" cy="694326"/>
            <a:chOff x="0" y="0"/>
            <a:chExt cx="1339270" cy="2488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39270" cy="248831"/>
            </a:xfrm>
            <a:custGeom>
              <a:avLst/>
              <a:gdLst/>
              <a:ahLst/>
              <a:cxnLst/>
              <a:rect r="r" b="b" t="t" l="l"/>
              <a:pathLst>
                <a:path h="248831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339270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10800000">
            <a:off x="3737038" y="1750248"/>
            <a:ext cx="3822962" cy="694326"/>
            <a:chOff x="0" y="0"/>
            <a:chExt cx="1370063" cy="24883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70063" cy="248831"/>
            </a:xfrm>
            <a:custGeom>
              <a:avLst/>
              <a:gdLst/>
              <a:ahLst/>
              <a:cxnLst/>
              <a:rect r="r" b="b" t="t" l="l"/>
              <a:pathLst>
                <a:path h="248831" w="1370063">
                  <a:moveTo>
                    <a:pt x="0" y="0"/>
                  </a:moveTo>
                  <a:lnTo>
                    <a:pt x="1370063" y="0"/>
                  </a:lnTo>
                  <a:lnTo>
                    <a:pt x="1370063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1370063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10800000">
            <a:off x="3780000" y="5536751"/>
            <a:ext cx="3780000" cy="694326"/>
            <a:chOff x="0" y="0"/>
            <a:chExt cx="1354667" cy="24883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54667" cy="248831"/>
            </a:xfrm>
            <a:custGeom>
              <a:avLst/>
              <a:gdLst/>
              <a:ahLst/>
              <a:cxnLst/>
              <a:rect r="r" b="b" t="t" l="l"/>
              <a:pathLst>
                <a:path h="248831" w="1354667">
                  <a:moveTo>
                    <a:pt x="0" y="0"/>
                  </a:moveTo>
                  <a:lnTo>
                    <a:pt x="1354667" y="0"/>
                  </a:lnTo>
                  <a:lnTo>
                    <a:pt x="1354667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354667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0" y="5536500"/>
            <a:ext cx="3737038" cy="694326"/>
            <a:chOff x="0" y="0"/>
            <a:chExt cx="1339270" cy="24883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39270" cy="248831"/>
            </a:xfrm>
            <a:custGeom>
              <a:avLst/>
              <a:gdLst/>
              <a:ahLst/>
              <a:cxnLst/>
              <a:rect r="r" b="b" t="t" l="l"/>
              <a:pathLst>
                <a:path h="248831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1339270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4094280" y="6683099"/>
            <a:ext cx="3182262" cy="1723725"/>
          </a:xfrm>
          <a:custGeom>
            <a:avLst/>
            <a:gdLst/>
            <a:ahLst/>
            <a:cxnLst/>
            <a:rect r="r" b="b" t="t" l="l"/>
            <a:pathLst>
              <a:path h="1723725" w="3182262">
                <a:moveTo>
                  <a:pt x="0" y="0"/>
                </a:moveTo>
                <a:lnTo>
                  <a:pt x="3182261" y="0"/>
                </a:lnTo>
                <a:lnTo>
                  <a:pt x="3182261" y="1723725"/>
                </a:lnTo>
                <a:lnTo>
                  <a:pt x="0" y="1723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3569285" y="3127245"/>
            <a:ext cx="4080349" cy="1532008"/>
          </a:xfrm>
          <a:custGeom>
            <a:avLst/>
            <a:gdLst/>
            <a:ahLst/>
            <a:cxnLst/>
            <a:rect r="r" b="b" t="t" l="l"/>
            <a:pathLst>
              <a:path h="1532008" w="4080349">
                <a:moveTo>
                  <a:pt x="0" y="0"/>
                </a:moveTo>
                <a:lnTo>
                  <a:pt x="4080349" y="0"/>
                </a:lnTo>
                <a:lnTo>
                  <a:pt x="4080349" y="1532009"/>
                </a:lnTo>
                <a:lnTo>
                  <a:pt x="0" y="15320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71886" y="278325"/>
            <a:ext cx="7130305" cy="666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3"/>
              </a:lnSpc>
            </a:pPr>
            <a:r>
              <a:rPr lang="en-US" sz="2687" b="true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C</a:t>
            </a:r>
            <a:r>
              <a:rPr lang="en-US" b="true" sz="2687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ARD 05 — Ethyl acetate (ethyl ethanoate)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0842" y="1896854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531" indent="-177765" lvl="1">
              <a:lnSpc>
                <a:spcPts val="2305"/>
              </a:lnSpc>
              <a:buAutoNum type="arabicPeriod" startAt="1"/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Molecular Formula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870842" y="1899250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531" indent="-177765" lvl="1">
              <a:lnSpc>
                <a:spcPts val="2305"/>
              </a:lnSpc>
              <a:buAutoNum type="arabicPeriod" startAt="1"/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Lewis Structure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0" y="5688900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531" indent="-177765" lvl="1">
              <a:lnSpc>
                <a:spcPts val="2305"/>
              </a:lnSpc>
              <a:buAutoNum type="arabicPeriod" startAt="1"/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Condensed Structural Formula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094280" y="5688900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4.   Bond-line Formula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189408" y="9506123"/>
            <a:ext cx="3181184" cy="38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4"/>
              </a:lnSpc>
            </a:pPr>
            <a:r>
              <a:rPr lang="en-US" sz="2253" b="true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VERIFIC</a:t>
            </a:r>
            <a:r>
              <a:rPr lang="en-US" b="true" sz="2253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ATION STRIP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66111" y="9960002"/>
            <a:ext cx="1663411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atom count verified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66111" y="10240037"/>
            <a:ext cx="1653345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bond order checked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006589" y="10240037"/>
            <a:ext cx="2342176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same connectivity confirmed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006589" y="9960002"/>
            <a:ext cx="1385888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valence checked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7754" y="6916626"/>
            <a:ext cx="3401531" cy="162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CH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3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</a:t>
            </a:r>
            <a:r>
              <a:rPr lang="en-US" sz="4299">
                <a:solidFill>
                  <a:srgbClr val="FF0D0D"/>
                </a:solidFill>
                <a:latin typeface="Agrandir"/>
                <a:ea typeface="Agrandir"/>
                <a:cs typeface="Agrandir"/>
                <a:sym typeface="Agrandir"/>
              </a:rPr>
              <a:t>OO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CH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2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CH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3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1166111" y="10024264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7" y="0"/>
                </a:lnTo>
                <a:lnTo>
                  <a:pt x="130927" y="100814"/>
                </a:lnTo>
                <a:lnTo>
                  <a:pt x="0" y="1008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1" id="51"/>
          <p:cNvSpPr/>
          <p:nvPr/>
        </p:nvSpPr>
        <p:spPr>
          <a:xfrm flipH="false" flipV="false" rot="0">
            <a:off x="1166111" y="10310014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7" y="0"/>
                </a:lnTo>
                <a:lnTo>
                  <a:pt x="130927" y="100814"/>
                </a:lnTo>
                <a:lnTo>
                  <a:pt x="0" y="1008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2" id="52"/>
          <p:cNvSpPr/>
          <p:nvPr/>
        </p:nvSpPr>
        <p:spPr>
          <a:xfrm flipH="false" flipV="false" rot="0">
            <a:off x="4006589" y="10024264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6" y="0"/>
                </a:lnTo>
                <a:lnTo>
                  <a:pt x="130926" y="100814"/>
                </a:lnTo>
                <a:lnTo>
                  <a:pt x="0" y="1008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3" id="53"/>
          <p:cNvSpPr/>
          <p:nvPr/>
        </p:nvSpPr>
        <p:spPr>
          <a:xfrm flipH="false" flipV="false" rot="0">
            <a:off x="4006589" y="10310014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6" y="0"/>
                </a:lnTo>
                <a:lnTo>
                  <a:pt x="130926" y="100814"/>
                </a:lnTo>
                <a:lnTo>
                  <a:pt x="0" y="1008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560000" cy="1557352"/>
            <a:chOff x="0" y="0"/>
            <a:chExt cx="2709333" cy="558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558120"/>
            </a:xfrm>
            <a:custGeom>
              <a:avLst/>
              <a:gdLst/>
              <a:ahLst/>
              <a:cxnLst/>
              <a:rect r="r" b="b" t="t" l="l"/>
              <a:pathLst>
                <a:path h="5581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558120"/>
                  </a:lnTo>
                  <a:lnTo>
                    <a:pt x="0" y="558120"/>
                  </a:lnTo>
                  <a:close/>
                </a:path>
              </a:pathLst>
            </a:custGeom>
            <a:gradFill rotWithShape="true">
              <a:gsLst>
                <a:gs pos="0">
                  <a:srgbClr val="87C7FF">
                    <a:alpha val="100000"/>
                  </a:srgbClr>
                </a:gs>
                <a:gs pos="100000">
                  <a:srgbClr val="D4CEF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709333" cy="586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747852"/>
            <a:ext cx="3737038" cy="3598148"/>
            <a:chOff x="0" y="0"/>
            <a:chExt cx="1339270" cy="12894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9270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9270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3737038" y="1750248"/>
            <a:ext cx="3822962" cy="3598148"/>
            <a:chOff x="0" y="0"/>
            <a:chExt cx="1370063" cy="12894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0063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70063">
                  <a:moveTo>
                    <a:pt x="0" y="0"/>
                  </a:moveTo>
                  <a:lnTo>
                    <a:pt x="1370063" y="0"/>
                  </a:lnTo>
                  <a:lnTo>
                    <a:pt x="1370063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370063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5535554"/>
            <a:ext cx="3737038" cy="3598148"/>
            <a:chOff x="0" y="0"/>
            <a:chExt cx="1339270" cy="12894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9270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339270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3780000" y="5536500"/>
            <a:ext cx="3780000" cy="3598148"/>
            <a:chOff x="0" y="0"/>
            <a:chExt cx="1354667" cy="12894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4667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54667">
                  <a:moveTo>
                    <a:pt x="0" y="0"/>
                  </a:moveTo>
                  <a:lnTo>
                    <a:pt x="1354667" y="0"/>
                  </a:lnTo>
                  <a:lnTo>
                    <a:pt x="1354667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354667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0" y="9323255"/>
            <a:ext cx="7560000" cy="1368745"/>
            <a:chOff x="0" y="0"/>
            <a:chExt cx="2709333" cy="4905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09333" cy="490527"/>
            </a:xfrm>
            <a:custGeom>
              <a:avLst/>
              <a:gdLst/>
              <a:ahLst/>
              <a:cxnLst/>
              <a:rect r="r" b="b" t="t" l="l"/>
              <a:pathLst>
                <a:path h="490527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490527"/>
                  </a:lnTo>
                  <a:lnTo>
                    <a:pt x="0" y="490527"/>
                  </a:lnTo>
                  <a:close/>
                </a:path>
              </a:pathLst>
            </a:custGeom>
            <a:gradFill rotWithShape="true">
              <a:gsLst>
                <a:gs pos="0">
                  <a:srgbClr val="87C7FF">
                    <a:alpha val="100000"/>
                  </a:srgbClr>
                </a:gs>
                <a:gs pos="100000">
                  <a:srgbClr val="CFCEFF">
                    <a:alpha val="100000"/>
                  </a:srgbClr>
                </a:gs>
              </a:gsLst>
              <a:lin ang="5400000"/>
            </a:gra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709333" cy="519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316603" y="778676"/>
            <a:ext cx="3555354" cy="355494"/>
            <a:chOff x="0" y="0"/>
            <a:chExt cx="4740472" cy="473992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59861"/>
              <a:ext cx="4740472" cy="4014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5"/>
                </a:lnSpc>
              </a:pPr>
              <a:r>
                <a:rPr lang="en-US" sz="1646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Molecular Formula:</a:t>
              </a:r>
            </a:p>
          </p:txBody>
        </p:sp>
        <p:sp>
          <p:nvSpPr>
            <p:cNvPr name="AutoShape 22" id="22"/>
            <p:cNvSpPr/>
            <p:nvPr/>
          </p:nvSpPr>
          <p:spPr>
            <a:xfrm>
              <a:off x="2428258" y="467642"/>
              <a:ext cx="1357226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3" id="23"/>
            <p:cNvSpPr txBox="true"/>
            <p:nvPr/>
          </p:nvSpPr>
          <p:spPr>
            <a:xfrm rot="0">
              <a:off x="1578605" y="-47625"/>
              <a:ext cx="2883627" cy="515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3"/>
                </a:lnSpc>
              </a:pPr>
              <a:r>
                <a:rPr lang="en-US" sz="23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</a:t>
              </a:r>
              <a:r>
                <a:rPr lang="en-US" sz="23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6</a:t>
              </a:r>
              <a:r>
                <a:rPr lang="en-US" sz="23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</a:t>
              </a:r>
              <a:r>
                <a:rPr lang="en-US" sz="23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12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-6256" y="3204179"/>
            <a:ext cx="3652452" cy="86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</a:t>
            </a:r>
            <a:r>
              <a:rPr lang="en-US" sz="42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6</a:t>
            </a:r>
            <a:r>
              <a:rPr lang="en-US" sz="42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H</a:t>
            </a:r>
            <a:r>
              <a:rPr lang="en-US" sz="42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12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0" y="1747852"/>
            <a:ext cx="3737038" cy="694326"/>
            <a:chOff x="0" y="0"/>
            <a:chExt cx="1339270" cy="2488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39270" cy="248831"/>
            </a:xfrm>
            <a:custGeom>
              <a:avLst/>
              <a:gdLst/>
              <a:ahLst/>
              <a:cxnLst/>
              <a:rect r="r" b="b" t="t" l="l"/>
              <a:pathLst>
                <a:path h="248831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339270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10800000">
            <a:off x="3737038" y="1750248"/>
            <a:ext cx="3822962" cy="694326"/>
            <a:chOff x="0" y="0"/>
            <a:chExt cx="1370063" cy="24883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70063" cy="248831"/>
            </a:xfrm>
            <a:custGeom>
              <a:avLst/>
              <a:gdLst/>
              <a:ahLst/>
              <a:cxnLst/>
              <a:rect r="r" b="b" t="t" l="l"/>
              <a:pathLst>
                <a:path h="248831" w="1370063">
                  <a:moveTo>
                    <a:pt x="0" y="0"/>
                  </a:moveTo>
                  <a:lnTo>
                    <a:pt x="1370063" y="0"/>
                  </a:lnTo>
                  <a:lnTo>
                    <a:pt x="1370063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1370063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10800000">
            <a:off x="3780000" y="5536751"/>
            <a:ext cx="3780000" cy="694326"/>
            <a:chOff x="0" y="0"/>
            <a:chExt cx="1354667" cy="24883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54667" cy="248831"/>
            </a:xfrm>
            <a:custGeom>
              <a:avLst/>
              <a:gdLst/>
              <a:ahLst/>
              <a:cxnLst/>
              <a:rect r="r" b="b" t="t" l="l"/>
              <a:pathLst>
                <a:path h="248831" w="1354667">
                  <a:moveTo>
                    <a:pt x="0" y="0"/>
                  </a:moveTo>
                  <a:lnTo>
                    <a:pt x="1354667" y="0"/>
                  </a:lnTo>
                  <a:lnTo>
                    <a:pt x="1354667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354667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0" y="5536500"/>
            <a:ext cx="3737038" cy="694326"/>
            <a:chOff x="0" y="0"/>
            <a:chExt cx="1339270" cy="24883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39270" cy="248831"/>
            </a:xfrm>
            <a:custGeom>
              <a:avLst/>
              <a:gdLst/>
              <a:ahLst/>
              <a:cxnLst/>
              <a:rect r="r" b="b" t="t" l="l"/>
              <a:pathLst>
                <a:path h="248831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1339270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4094280" y="2412663"/>
            <a:ext cx="3202296" cy="3009537"/>
          </a:xfrm>
          <a:custGeom>
            <a:avLst/>
            <a:gdLst/>
            <a:ahLst/>
            <a:cxnLst/>
            <a:rect r="r" b="b" t="t" l="l"/>
            <a:pathLst>
              <a:path h="3009537" w="3202296">
                <a:moveTo>
                  <a:pt x="0" y="0"/>
                </a:moveTo>
                <a:lnTo>
                  <a:pt x="3202296" y="0"/>
                </a:lnTo>
                <a:lnTo>
                  <a:pt x="3202296" y="3009537"/>
                </a:lnTo>
                <a:lnTo>
                  <a:pt x="0" y="30095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4591067" y="6379279"/>
            <a:ext cx="2231906" cy="2554945"/>
          </a:xfrm>
          <a:custGeom>
            <a:avLst/>
            <a:gdLst/>
            <a:ahLst/>
            <a:cxnLst/>
            <a:rect r="r" b="b" t="t" l="l"/>
            <a:pathLst>
              <a:path h="2554945" w="2231906">
                <a:moveTo>
                  <a:pt x="0" y="0"/>
                </a:moveTo>
                <a:lnTo>
                  <a:pt x="2231906" y="0"/>
                </a:lnTo>
                <a:lnTo>
                  <a:pt x="2231906" y="2554944"/>
                </a:lnTo>
                <a:lnTo>
                  <a:pt x="0" y="25549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479597" y="327320"/>
            <a:ext cx="4600805" cy="451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2"/>
              </a:lnSpc>
            </a:pPr>
            <a:r>
              <a:rPr lang="en-US" sz="2687" b="true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C</a:t>
            </a:r>
            <a:r>
              <a:rPr lang="en-US" b="true" sz="2687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ARD 06 — Cyclohexane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0842" y="1896854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531" indent="-177765" lvl="1">
              <a:lnSpc>
                <a:spcPts val="2305"/>
              </a:lnSpc>
              <a:buAutoNum type="arabicPeriod" startAt="1"/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Molecular Formula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870842" y="1899250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531" indent="-177765" lvl="1">
              <a:lnSpc>
                <a:spcPts val="2305"/>
              </a:lnSpc>
              <a:buAutoNum type="arabicPeriod" startAt="1"/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Lewis Structure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2293" y="5688900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531" indent="-177765" lvl="1">
              <a:lnSpc>
                <a:spcPts val="2305"/>
              </a:lnSpc>
              <a:buAutoNum type="arabicPeriod" startAt="1"/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Condensed Structural Formula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094280" y="5688900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4.   Bond-line Formula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189408" y="9506123"/>
            <a:ext cx="3181184" cy="38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4"/>
              </a:lnSpc>
            </a:pPr>
            <a:r>
              <a:rPr lang="en-US" sz="2253" b="true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VERIFIC</a:t>
            </a:r>
            <a:r>
              <a:rPr lang="en-US" b="true" sz="2253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ATION STRIP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66111" y="9960002"/>
            <a:ext cx="1663411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atom count verified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66111" y="10240037"/>
            <a:ext cx="1653345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bond order checked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006589" y="10240037"/>
            <a:ext cx="2342176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same connectivity confirmed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006589" y="9960002"/>
            <a:ext cx="1385888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valence checked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86719" y="6739811"/>
            <a:ext cx="3163600" cy="162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CH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2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CH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2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CH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2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CH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2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CH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2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CH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2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1166111" y="10025736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7" y="0"/>
                </a:lnTo>
                <a:lnTo>
                  <a:pt x="130927" y="100814"/>
                </a:lnTo>
                <a:lnTo>
                  <a:pt x="0" y="1008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1" id="51"/>
          <p:cNvSpPr/>
          <p:nvPr/>
        </p:nvSpPr>
        <p:spPr>
          <a:xfrm flipH="false" flipV="false" rot="0">
            <a:off x="4006589" y="10305771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6" y="0"/>
                </a:lnTo>
                <a:lnTo>
                  <a:pt x="130926" y="100813"/>
                </a:lnTo>
                <a:lnTo>
                  <a:pt x="0" y="1008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2" id="52"/>
          <p:cNvSpPr/>
          <p:nvPr/>
        </p:nvSpPr>
        <p:spPr>
          <a:xfrm flipH="false" flipV="false" rot="0">
            <a:off x="4006589" y="10025736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6" y="0"/>
                </a:lnTo>
                <a:lnTo>
                  <a:pt x="130926" y="100814"/>
                </a:lnTo>
                <a:lnTo>
                  <a:pt x="0" y="1008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3" id="53"/>
          <p:cNvSpPr/>
          <p:nvPr/>
        </p:nvSpPr>
        <p:spPr>
          <a:xfrm flipH="false" flipV="false" rot="0">
            <a:off x="1166111" y="10305771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7" y="0"/>
                </a:lnTo>
                <a:lnTo>
                  <a:pt x="130927" y="100813"/>
                </a:lnTo>
                <a:lnTo>
                  <a:pt x="0" y="1008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560000" cy="1557352"/>
            <a:chOff x="0" y="0"/>
            <a:chExt cx="2709333" cy="558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558120"/>
            </a:xfrm>
            <a:custGeom>
              <a:avLst/>
              <a:gdLst/>
              <a:ahLst/>
              <a:cxnLst/>
              <a:rect r="r" b="b" t="t" l="l"/>
              <a:pathLst>
                <a:path h="5581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558120"/>
                  </a:lnTo>
                  <a:lnTo>
                    <a:pt x="0" y="558120"/>
                  </a:lnTo>
                  <a:close/>
                </a:path>
              </a:pathLst>
            </a:custGeom>
            <a:gradFill rotWithShape="true">
              <a:gsLst>
                <a:gs pos="0">
                  <a:srgbClr val="87C7FF">
                    <a:alpha val="100000"/>
                  </a:srgbClr>
                </a:gs>
                <a:gs pos="100000">
                  <a:srgbClr val="D4CEF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709333" cy="586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747852"/>
            <a:ext cx="3737038" cy="3598148"/>
            <a:chOff x="0" y="0"/>
            <a:chExt cx="1339270" cy="12894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9270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9270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3737038" y="1750248"/>
            <a:ext cx="3822962" cy="3598148"/>
            <a:chOff x="0" y="0"/>
            <a:chExt cx="1370063" cy="12894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0063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70063">
                  <a:moveTo>
                    <a:pt x="0" y="0"/>
                  </a:moveTo>
                  <a:lnTo>
                    <a:pt x="1370063" y="0"/>
                  </a:lnTo>
                  <a:lnTo>
                    <a:pt x="1370063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370063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5535554"/>
            <a:ext cx="3737038" cy="3598148"/>
            <a:chOff x="0" y="0"/>
            <a:chExt cx="1339270" cy="12894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9270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339270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3780000" y="5536500"/>
            <a:ext cx="3780000" cy="3598148"/>
            <a:chOff x="0" y="0"/>
            <a:chExt cx="1354667" cy="12894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4667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54667">
                  <a:moveTo>
                    <a:pt x="0" y="0"/>
                  </a:moveTo>
                  <a:lnTo>
                    <a:pt x="1354667" y="0"/>
                  </a:lnTo>
                  <a:lnTo>
                    <a:pt x="1354667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354667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580" y="9382483"/>
            <a:ext cx="7560000" cy="1368745"/>
            <a:chOff x="0" y="0"/>
            <a:chExt cx="2709333" cy="4905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09333" cy="490527"/>
            </a:xfrm>
            <a:custGeom>
              <a:avLst/>
              <a:gdLst/>
              <a:ahLst/>
              <a:cxnLst/>
              <a:rect r="r" b="b" t="t" l="l"/>
              <a:pathLst>
                <a:path h="490527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490527"/>
                  </a:lnTo>
                  <a:lnTo>
                    <a:pt x="0" y="490527"/>
                  </a:lnTo>
                  <a:close/>
                </a:path>
              </a:pathLst>
            </a:custGeom>
            <a:gradFill rotWithShape="true">
              <a:gsLst>
                <a:gs pos="0">
                  <a:srgbClr val="87C7FF">
                    <a:alpha val="100000"/>
                  </a:srgbClr>
                </a:gs>
                <a:gs pos="100000">
                  <a:srgbClr val="CFCEFF">
                    <a:alpha val="100000"/>
                  </a:srgbClr>
                </a:gs>
              </a:gsLst>
              <a:lin ang="5400000"/>
            </a:gra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709333" cy="519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316603" y="778676"/>
            <a:ext cx="3555354" cy="355494"/>
            <a:chOff x="0" y="0"/>
            <a:chExt cx="4740472" cy="473992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59861"/>
              <a:ext cx="4740472" cy="4014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5"/>
                </a:lnSpc>
              </a:pPr>
              <a:r>
                <a:rPr lang="en-US" sz="1646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Molecular Formula:</a:t>
              </a:r>
            </a:p>
          </p:txBody>
        </p:sp>
        <p:sp>
          <p:nvSpPr>
            <p:cNvPr name="AutoShape 22" id="22"/>
            <p:cNvSpPr/>
            <p:nvPr/>
          </p:nvSpPr>
          <p:spPr>
            <a:xfrm>
              <a:off x="2428258" y="467642"/>
              <a:ext cx="1357226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3" id="23"/>
            <p:cNvSpPr txBox="true"/>
            <p:nvPr/>
          </p:nvSpPr>
          <p:spPr>
            <a:xfrm rot="0">
              <a:off x="1696171" y="-47625"/>
              <a:ext cx="2883627" cy="515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3"/>
                </a:lnSpc>
              </a:pPr>
              <a:r>
                <a:rPr lang="en-US" sz="23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</a:t>
              </a:r>
              <a:r>
                <a:rPr lang="en-US" sz="23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6</a:t>
              </a:r>
              <a:r>
                <a:rPr lang="en-US" sz="23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</a:t>
              </a:r>
              <a:r>
                <a:rPr lang="en-US" sz="23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10</a:t>
              </a:r>
              <a:r>
                <a:rPr lang="en-US" sz="23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787159" y="3204179"/>
            <a:ext cx="2162721" cy="86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</a:t>
            </a:r>
            <a:r>
              <a:rPr lang="en-US" sz="42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6</a:t>
            </a:r>
            <a:r>
              <a:rPr lang="en-US" sz="42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H</a:t>
            </a:r>
            <a:r>
              <a:rPr lang="en-US" sz="42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10</a:t>
            </a:r>
            <a:r>
              <a:rPr lang="en-US" sz="42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0" y="1747852"/>
            <a:ext cx="3737038" cy="694326"/>
            <a:chOff x="0" y="0"/>
            <a:chExt cx="1339270" cy="2488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39270" cy="248831"/>
            </a:xfrm>
            <a:custGeom>
              <a:avLst/>
              <a:gdLst/>
              <a:ahLst/>
              <a:cxnLst/>
              <a:rect r="r" b="b" t="t" l="l"/>
              <a:pathLst>
                <a:path h="248831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339270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10800000">
            <a:off x="3737038" y="1750248"/>
            <a:ext cx="3822962" cy="694326"/>
            <a:chOff x="0" y="0"/>
            <a:chExt cx="1370063" cy="24883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70063" cy="248831"/>
            </a:xfrm>
            <a:custGeom>
              <a:avLst/>
              <a:gdLst/>
              <a:ahLst/>
              <a:cxnLst/>
              <a:rect r="r" b="b" t="t" l="l"/>
              <a:pathLst>
                <a:path h="248831" w="1370063">
                  <a:moveTo>
                    <a:pt x="0" y="0"/>
                  </a:moveTo>
                  <a:lnTo>
                    <a:pt x="1370063" y="0"/>
                  </a:lnTo>
                  <a:lnTo>
                    <a:pt x="1370063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1370063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10800000">
            <a:off x="3780000" y="5536751"/>
            <a:ext cx="3780000" cy="694326"/>
            <a:chOff x="0" y="0"/>
            <a:chExt cx="1354667" cy="24883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54667" cy="248831"/>
            </a:xfrm>
            <a:custGeom>
              <a:avLst/>
              <a:gdLst/>
              <a:ahLst/>
              <a:cxnLst/>
              <a:rect r="r" b="b" t="t" l="l"/>
              <a:pathLst>
                <a:path h="248831" w="1354667">
                  <a:moveTo>
                    <a:pt x="0" y="0"/>
                  </a:moveTo>
                  <a:lnTo>
                    <a:pt x="1354667" y="0"/>
                  </a:lnTo>
                  <a:lnTo>
                    <a:pt x="1354667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354667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0" y="5536500"/>
            <a:ext cx="3737038" cy="694326"/>
            <a:chOff x="0" y="0"/>
            <a:chExt cx="1339270" cy="24883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39270" cy="248831"/>
            </a:xfrm>
            <a:custGeom>
              <a:avLst/>
              <a:gdLst/>
              <a:ahLst/>
              <a:cxnLst/>
              <a:rect r="r" b="b" t="t" l="l"/>
              <a:pathLst>
                <a:path h="248831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1339270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4025358" y="2373751"/>
            <a:ext cx="3289283" cy="3048449"/>
          </a:xfrm>
          <a:custGeom>
            <a:avLst/>
            <a:gdLst/>
            <a:ahLst/>
            <a:cxnLst/>
            <a:rect r="r" b="b" t="t" l="l"/>
            <a:pathLst>
              <a:path h="3048449" w="3289283">
                <a:moveTo>
                  <a:pt x="0" y="0"/>
                </a:moveTo>
                <a:lnTo>
                  <a:pt x="3289284" y="0"/>
                </a:lnTo>
                <a:lnTo>
                  <a:pt x="3289284" y="3048449"/>
                </a:lnTo>
                <a:lnTo>
                  <a:pt x="0" y="30484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4375588" y="6553388"/>
            <a:ext cx="2781877" cy="2225502"/>
          </a:xfrm>
          <a:custGeom>
            <a:avLst/>
            <a:gdLst/>
            <a:ahLst/>
            <a:cxnLst/>
            <a:rect r="r" b="b" t="t" l="l"/>
            <a:pathLst>
              <a:path h="2225502" w="2781877">
                <a:moveTo>
                  <a:pt x="0" y="0"/>
                </a:moveTo>
                <a:lnTo>
                  <a:pt x="2781877" y="0"/>
                </a:lnTo>
                <a:lnTo>
                  <a:pt x="2781877" y="2225502"/>
                </a:lnTo>
                <a:lnTo>
                  <a:pt x="0" y="22255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232974" y="327320"/>
            <a:ext cx="5094052" cy="451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2"/>
              </a:lnSpc>
            </a:pPr>
            <a:r>
              <a:rPr lang="en-US" sz="2687" b="true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C</a:t>
            </a:r>
            <a:r>
              <a:rPr lang="en-US" b="true" sz="2687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ARD 07 — Cyclohexanone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0842" y="1896854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531" indent="-177765" lvl="1">
              <a:lnSpc>
                <a:spcPts val="2305"/>
              </a:lnSpc>
              <a:buAutoNum type="arabicPeriod" startAt="1"/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Molecular Formula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870842" y="1899250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531" indent="-177765" lvl="1">
              <a:lnSpc>
                <a:spcPts val="2305"/>
              </a:lnSpc>
              <a:buAutoNum type="arabicPeriod" startAt="1"/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Lewis Structure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0" y="5688900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531" indent="-177765" lvl="1">
              <a:lnSpc>
                <a:spcPts val="2305"/>
              </a:lnSpc>
              <a:buAutoNum type="arabicPeriod" startAt="1"/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Condensed Structural Formula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094280" y="5688900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4.   Bond-line Formula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189248" y="9506123"/>
            <a:ext cx="3181505" cy="38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4"/>
              </a:lnSpc>
            </a:pPr>
            <a:r>
              <a:rPr lang="en-US" sz="2253" b="true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VERIFIC</a:t>
            </a:r>
            <a:r>
              <a:rPr lang="en-US" b="true" sz="2253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ATION STRIP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66111" y="9960002"/>
            <a:ext cx="1663411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atom count verified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66111" y="10240037"/>
            <a:ext cx="1653345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bond order checked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006589" y="10240037"/>
            <a:ext cx="2342176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same connectivity confirmed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006589" y="9960002"/>
            <a:ext cx="1385888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valence checked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61065" y="6766342"/>
            <a:ext cx="3230648" cy="162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H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2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CH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2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CH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2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CH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2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CH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2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</a:t>
            </a:r>
            <a:r>
              <a:rPr lang="en-US" sz="4299">
                <a:solidFill>
                  <a:srgbClr val="FF0D0D"/>
                </a:solidFill>
                <a:latin typeface="Agrandir"/>
                <a:ea typeface="Agrandir"/>
                <a:cs typeface="Agrandir"/>
                <a:sym typeface="Agrandir"/>
              </a:rPr>
              <a:t>O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1166111" y="10023225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7" y="0"/>
                </a:lnTo>
                <a:lnTo>
                  <a:pt x="130927" y="100813"/>
                </a:lnTo>
                <a:lnTo>
                  <a:pt x="0" y="1008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1" id="51"/>
          <p:cNvSpPr/>
          <p:nvPr/>
        </p:nvSpPr>
        <p:spPr>
          <a:xfrm flipH="false" flipV="false" rot="0">
            <a:off x="1166111" y="10310880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7" y="0"/>
                </a:lnTo>
                <a:lnTo>
                  <a:pt x="130927" y="100813"/>
                </a:lnTo>
                <a:lnTo>
                  <a:pt x="0" y="1008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2" id="52"/>
          <p:cNvSpPr/>
          <p:nvPr/>
        </p:nvSpPr>
        <p:spPr>
          <a:xfrm flipH="false" flipV="false" rot="0">
            <a:off x="4006589" y="10310880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6" y="0"/>
                </a:lnTo>
                <a:lnTo>
                  <a:pt x="130926" y="100813"/>
                </a:lnTo>
                <a:lnTo>
                  <a:pt x="0" y="1008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3" id="53"/>
          <p:cNvSpPr/>
          <p:nvPr/>
        </p:nvSpPr>
        <p:spPr>
          <a:xfrm flipH="false" flipV="false" rot="0">
            <a:off x="4006589" y="10023225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6" y="0"/>
                </a:lnTo>
                <a:lnTo>
                  <a:pt x="130926" y="100813"/>
                </a:lnTo>
                <a:lnTo>
                  <a:pt x="0" y="1008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560000" cy="1557352"/>
            <a:chOff x="0" y="0"/>
            <a:chExt cx="2709333" cy="558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558120"/>
            </a:xfrm>
            <a:custGeom>
              <a:avLst/>
              <a:gdLst/>
              <a:ahLst/>
              <a:cxnLst/>
              <a:rect r="r" b="b" t="t" l="l"/>
              <a:pathLst>
                <a:path h="5581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558120"/>
                  </a:lnTo>
                  <a:lnTo>
                    <a:pt x="0" y="558120"/>
                  </a:lnTo>
                  <a:close/>
                </a:path>
              </a:pathLst>
            </a:custGeom>
            <a:gradFill rotWithShape="true">
              <a:gsLst>
                <a:gs pos="0">
                  <a:srgbClr val="87C7FF">
                    <a:alpha val="100000"/>
                  </a:srgbClr>
                </a:gs>
                <a:gs pos="100000">
                  <a:srgbClr val="D4CEF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709333" cy="586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747852"/>
            <a:ext cx="3737038" cy="3598148"/>
            <a:chOff x="0" y="0"/>
            <a:chExt cx="1339270" cy="12894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9270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9270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3737038" y="1750248"/>
            <a:ext cx="3822962" cy="3598148"/>
            <a:chOff x="0" y="0"/>
            <a:chExt cx="1370063" cy="12894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0063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70063">
                  <a:moveTo>
                    <a:pt x="0" y="0"/>
                  </a:moveTo>
                  <a:lnTo>
                    <a:pt x="1370063" y="0"/>
                  </a:lnTo>
                  <a:lnTo>
                    <a:pt x="1370063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370063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5535554"/>
            <a:ext cx="3737038" cy="3598148"/>
            <a:chOff x="0" y="0"/>
            <a:chExt cx="1339270" cy="12894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9270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339270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3780000" y="5536500"/>
            <a:ext cx="3780000" cy="3598148"/>
            <a:chOff x="0" y="0"/>
            <a:chExt cx="1354667" cy="12894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4667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54667">
                  <a:moveTo>
                    <a:pt x="0" y="0"/>
                  </a:moveTo>
                  <a:lnTo>
                    <a:pt x="1354667" y="0"/>
                  </a:lnTo>
                  <a:lnTo>
                    <a:pt x="1354667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354667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0" y="9323255"/>
            <a:ext cx="7560000" cy="1368745"/>
            <a:chOff x="0" y="0"/>
            <a:chExt cx="2709333" cy="4905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09333" cy="490527"/>
            </a:xfrm>
            <a:custGeom>
              <a:avLst/>
              <a:gdLst/>
              <a:ahLst/>
              <a:cxnLst/>
              <a:rect r="r" b="b" t="t" l="l"/>
              <a:pathLst>
                <a:path h="490527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490527"/>
                  </a:lnTo>
                  <a:lnTo>
                    <a:pt x="0" y="490527"/>
                  </a:lnTo>
                  <a:close/>
                </a:path>
              </a:pathLst>
            </a:custGeom>
            <a:gradFill rotWithShape="true">
              <a:gsLst>
                <a:gs pos="0">
                  <a:srgbClr val="87C7FF">
                    <a:alpha val="100000"/>
                  </a:srgbClr>
                </a:gs>
                <a:gs pos="100000">
                  <a:srgbClr val="CFCEFF">
                    <a:alpha val="100000"/>
                  </a:srgbClr>
                </a:gs>
              </a:gsLst>
              <a:lin ang="5400000"/>
            </a:gra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709333" cy="519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228911" y="1016121"/>
            <a:ext cx="3614156" cy="360256"/>
            <a:chOff x="0" y="0"/>
            <a:chExt cx="4818874" cy="480342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66211"/>
              <a:ext cx="4740472" cy="4014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5"/>
                </a:lnSpc>
              </a:pPr>
              <a:r>
                <a:rPr lang="en-US" sz="1646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Molecular Formula:</a:t>
              </a:r>
            </a:p>
          </p:txBody>
        </p:sp>
        <p:sp>
          <p:nvSpPr>
            <p:cNvPr name="AutoShape 22" id="22"/>
            <p:cNvSpPr/>
            <p:nvPr/>
          </p:nvSpPr>
          <p:spPr>
            <a:xfrm flipV="true">
              <a:off x="2428258" y="467642"/>
              <a:ext cx="1890336" cy="635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3" id="23"/>
            <p:cNvSpPr txBox="true"/>
            <p:nvPr/>
          </p:nvSpPr>
          <p:spPr>
            <a:xfrm rot="0">
              <a:off x="1935247" y="-47625"/>
              <a:ext cx="2883627" cy="515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3"/>
                </a:lnSpc>
              </a:pPr>
              <a:r>
                <a:rPr lang="en-US" sz="23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C₈H₉NO₂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0" y="1747852"/>
            <a:ext cx="3737038" cy="694326"/>
            <a:chOff x="0" y="0"/>
            <a:chExt cx="1339270" cy="2488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39270" cy="248831"/>
            </a:xfrm>
            <a:custGeom>
              <a:avLst/>
              <a:gdLst/>
              <a:ahLst/>
              <a:cxnLst/>
              <a:rect r="r" b="b" t="t" l="l"/>
              <a:pathLst>
                <a:path h="248831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1339270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10800000">
            <a:off x="3737038" y="1750248"/>
            <a:ext cx="3822962" cy="694326"/>
            <a:chOff x="0" y="0"/>
            <a:chExt cx="1370063" cy="24883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70063" cy="248831"/>
            </a:xfrm>
            <a:custGeom>
              <a:avLst/>
              <a:gdLst/>
              <a:ahLst/>
              <a:cxnLst/>
              <a:rect r="r" b="b" t="t" l="l"/>
              <a:pathLst>
                <a:path h="248831" w="1370063">
                  <a:moveTo>
                    <a:pt x="0" y="0"/>
                  </a:moveTo>
                  <a:lnTo>
                    <a:pt x="1370063" y="0"/>
                  </a:lnTo>
                  <a:lnTo>
                    <a:pt x="1370063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370063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10800000">
            <a:off x="3780000" y="5536751"/>
            <a:ext cx="3780000" cy="694326"/>
            <a:chOff x="0" y="0"/>
            <a:chExt cx="1354667" cy="24883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54667" cy="248831"/>
            </a:xfrm>
            <a:custGeom>
              <a:avLst/>
              <a:gdLst/>
              <a:ahLst/>
              <a:cxnLst/>
              <a:rect r="r" b="b" t="t" l="l"/>
              <a:pathLst>
                <a:path h="248831" w="1354667">
                  <a:moveTo>
                    <a:pt x="0" y="0"/>
                  </a:moveTo>
                  <a:lnTo>
                    <a:pt x="1354667" y="0"/>
                  </a:lnTo>
                  <a:lnTo>
                    <a:pt x="1354667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1354667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0" y="5536500"/>
            <a:ext cx="3737038" cy="694326"/>
            <a:chOff x="0" y="0"/>
            <a:chExt cx="1339270" cy="24883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39270" cy="248831"/>
            </a:xfrm>
            <a:custGeom>
              <a:avLst/>
              <a:gdLst/>
              <a:ahLst/>
              <a:cxnLst/>
              <a:rect r="r" b="b" t="t" l="l"/>
              <a:pathLst>
                <a:path h="248831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1339270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3953644" y="6850203"/>
            <a:ext cx="3432711" cy="1633184"/>
          </a:xfrm>
          <a:custGeom>
            <a:avLst/>
            <a:gdLst/>
            <a:ahLst/>
            <a:cxnLst/>
            <a:rect r="r" b="b" t="t" l="l"/>
            <a:pathLst>
              <a:path h="1633184" w="3432711">
                <a:moveTo>
                  <a:pt x="0" y="0"/>
                </a:moveTo>
                <a:lnTo>
                  <a:pt x="3432712" y="0"/>
                </a:lnTo>
                <a:lnTo>
                  <a:pt x="3432712" y="1633184"/>
                </a:lnTo>
                <a:lnTo>
                  <a:pt x="0" y="1633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3622315" y="2814641"/>
            <a:ext cx="3889803" cy="2350846"/>
          </a:xfrm>
          <a:custGeom>
            <a:avLst/>
            <a:gdLst/>
            <a:ahLst/>
            <a:cxnLst/>
            <a:rect r="r" b="b" t="t" l="l"/>
            <a:pathLst>
              <a:path h="2350846" w="3889803">
                <a:moveTo>
                  <a:pt x="0" y="0"/>
                </a:moveTo>
                <a:lnTo>
                  <a:pt x="3889803" y="0"/>
                </a:lnTo>
                <a:lnTo>
                  <a:pt x="3889803" y="2350846"/>
                </a:lnTo>
                <a:lnTo>
                  <a:pt x="0" y="23508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0" y="406832"/>
            <a:ext cx="7244630" cy="614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5"/>
              </a:lnSpc>
            </a:pPr>
            <a:r>
              <a:rPr lang="en-US" b="true" sz="2687" spc="-83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C</a:t>
            </a:r>
            <a:r>
              <a:rPr lang="en-US" b="true" sz="2687" spc="-83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ARD 08 — Acetaminophen (paracetamol)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0842" y="1896854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531" indent="-177765" lvl="1">
              <a:lnSpc>
                <a:spcPts val="2305"/>
              </a:lnSpc>
              <a:buAutoNum type="arabicPeriod" startAt="1"/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Molecular Formula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870842" y="1899250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531" indent="-177765" lvl="1">
              <a:lnSpc>
                <a:spcPts val="2305"/>
              </a:lnSpc>
              <a:buAutoNum type="arabicPeriod" startAt="1"/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Lewis Structure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0" y="5688900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531" indent="-177765" lvl="1">
              <a:lnSpc>
                <a:spcPts val="2305"/>
              </a:lnSpc>
              <a:buAutoNum type="arabicPeriod" startAt="1"/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Condensed Structural Formula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094280" y="5688900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4.   Bond-line Formula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189408" y="9506123"/>
            <a:ext cx="3181184" cy="38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4"/>
              </a:lnSpc>
            </a:pPr>
            <a:r>
              <a:rPr lang="en-US" sz="2253" b="true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VERIFIC</a:t>
            </a:r>
            <a:r>
              <a:rPr lang="en-US" b="true" sz="2253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ATION STRIP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66111" y="9960002"/>
            <a:ext cx="1663411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atom count verified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66111" y="10240037"/>
            <a:ext cx="1653345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bond order checked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006589" y="10240037"/>
            <a:ext cx="2342176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same connectivity confirmed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006589" y="9960002"/>
            <a:ext cx="1385888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valence checked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02593" y="3185129"/>
            <a:ext cx="2731852" cy="86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C₈H₉NO₂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05084" y="6745176"/>
            <a:ext cx="3126870" cy="162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H</a:t>
            </a:r>
            <a:r>
              <a:rPr lang="en-US" sz="4299">
                <a:solidFill>
                  <a:srgbClr val="FF0D0D"/>
                </a:solidFill>
                <a:latin typeface="Agrandir"/>
                <a:ea typeface="Agrandir"/>
                <a:cs typeface="Agrandir"/>
                <a:sym typeface="Agrandir"/>
              </a:rPr>
              <a:t>O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6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H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4</a:t>
            </a:r>
            <a:r>
              <a:rPr lang="en-US" sz="4299">
                <a:solidFill>
                  <a:srgbClr val="304FF7"/>
                </a:solidFill>
                <a:latin typeface="Agrandir"/>
                <a:ea typeface="Agrandir"/>
                <a:cs typeface="Agrandir"/>
                <a:sym typeface="Agrandir"/>
              </a:rPr>
              <a:t>N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HC</a:t>
            </a:r>
            <a:r>
              <a:rPr lang="en-US" sz="4299">
                <a:solidFill>
                  <a:srgbClr val="FF0D0D"/>
                </a:solidFill>
                <a:latin typeface="Agrandir"/>
                <a:ea typeface="Agrandir"/>
                <a:cs typeface="Agrandir"/>
                <a:sym typeface="Agrandir"/>
              </a:rPr>
              <a:t>O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CH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3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1166111" y="10025736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7" y="0"/>
                </a:lnTo>
                <a:lnTo>
                  <a:pt x="130927" y="100813"/>
                </a:lnTo>
                <a:lnTo>
                  <a:pt x="0" y="1008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1" id="51"/>
          <p:cNvSpPr/>
          <p:nvPr/>
        </p:nvSpPr>
        <p:spPr>
          <a:xfrm flipH="false" flipV="false" rot="0">
            <a:off x="1166111" y="10305771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7" y="0"/>
                </a:lnTo>
                <a:lnTo>
                  <a:pt x="130927" y="100813"/>
                </a:lnTo>
                <a:lnTo>
                  <a:pt x="0" y="1008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2" id="52"/>
          <p:cNvSpPr/>
          <p:nvPr/>
        </p:nvSpPr>
        <p:spPr>
          <a:xfrm flipH="false" flipV="false" rot="0">
            <a:off x="4006589" y="10305771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6" y="0"/>
                </a:lnTo>
                <a:lnTo>
                  <a:pt x="130926" y="100813"/>
                </a:lnTo>
                <a:lnTo>
                  <a:pt x="0" y="1008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3" id="53"/>
          <p:cNvSpPr/>
          <p:nvPr/>
        </p:nvSpPr>
        <p:spPr>
          <a:xfrm flipH="false" flipV="false" rot="0">
            <a:off x="4006589" y="10025736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6" y="0"/>
                </a:lnTo>
                <a:lnTo>
                  <a:pt x="130926" y="100813"/>
                </a:lnTo>
                <a:lnTo>
                  <a:pt x="0" y="1008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560000" cy="1557352"/>
            <a:chOff x="0" y="0"/>
            <a:chExt cx="2709333" cy="558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558120"/>
            </a:xfrm>
            <a:custGeom>
              <a:avLst/>
              <a:gdLst/>
              <a:ahLst/>
              <a:cxnLst/>
              <a:rect r="r" b="b" t="t" l="l"/>
              <a:pathLst>
                <a:path h="5581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558120"/>
                  </a:lnTo>
                  <a:lnTo>
                    <a:pt x="0" y="558120"/>
                  </a:lnTo>
                  <a:close/>
                </a:path>
              </a:pathLst>
            </a:custGeom>
            <a:gradFill rotWithShape="true">
              <a:gsLst>
                <a:gs pos="0">
                  <a:srgbClr val="87C7FF">
                    <a:alpha val="100000"/>
                  </a:srgbClr>
                </a:gs>
                <a:gs pos="100000">
                  <a:srgbClr val="D4CEF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709333" cy="586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747852"/>
            <a:ext cx="3737038" cy="3598148"/>
            <a:chOff x="0" y="0"/>
            <a:chExt cx="1339270" cy="12894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9270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9270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3737038" y="1750248"/>
            <a:ext cx="3822962" cy="3598148"/>
            <a:chOff x="0" y="0"/>
            <a:chExt cx="1370063" cy="12894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0063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70063">
                  <a:moveTo>
                    <a:pt x="0" y="0"/>
                  </a:moveTo>
                  <a:lnTo>
                    <a:pt x="1370063" y="0"/>
                  </a:lnTo>
                  <a:lnTo>
                    <a:pt x="1370063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370063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5535554"/>
            <a:ext cx="3737038" cy="3598148"/>
            <a:chOff x="0" y="0"/>
            <a:chExt cx="1339270" cy="12894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9270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339270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3780000" y="5536500"/>
            <a:ext cx="3780000" cy="3598148"/>
            <a:chOff x="0" y="0"/>
            <a:chExt cx="1354667" cy="12894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4667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54667">
                  <a:moveTo>
                    <a:pt x="0" y="0"/>
                  </a:moveTo>
                  <a:lnTo>
                    <a:pt x="1354667" y="0"/>
                  </a:lnTo>
                  <a:lnTo>
                    <a:pt x="1354667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354667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0" y="9323255"/>
            <a:ext cx="7560000" cy="1368745"/>
            <a:chOff x="0" y="0"/>
            <a:chExt cx="2709333" cy="4905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09333" cy="490527"/>
            </a:xfrm>
            <a:custGeom>
              <a:avLst/>
              <a:gdLst/>
              <a:ahLst/>
              <a:cxnLst/>
              <a:rect r="r" b="b" t="t" l="l"/>
              <a:pathLst>
                <a:path h="490527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490527"/>
                  </a:lnTo>
                  <a:lnTo>
                    <a:pt x="0" y="490527"/>
                  </a:lnTo>
                  <a:close/>
                </a:path>
              </a:pathLst>
            </a:custGeom>
            <a:gradFill rotWithShape="true">
              <a:gsLst>
                <a:gs pos="0">
                  <a:srgbClr val="87C7FF">
                    <a:alpha val="100000"/>
                  </a:srgbClr>
                </a:gs>
                <a:gs pos="100000">
                  <a:srgbClr val="CFCEFF">
                    <a:alpha val="100000"/>
                  </a:srgbClr>
                </a:gs>
              </a:gsLst>
              <a:lin ang="5400000"/>
            </a:gra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709333" cy="519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228911" y="968496"/>
            <a:ext cx="3555354" cy="360256"/>
            <a:chOff x="0" y="0"/>
            <a:chExt cx="4740472" cy="480342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66211"/>
              <a:ext cx="4740472" cy="4014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5"/>
                </a:lnSpc>
              </a:pPr>
              <a:r>
                <a:rPr lang="en-US" sz="1646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Molecular Formula:</a:t>
              </a:r>
            </a:p>
          </p:txBody>
        </p:sp>
        <p:sp>
          <p:nvSpPr>
            <p:cNvPr name="AutoShape 22" id="22"/>
            <p:cNvSpPr/>
            <p:nvPr/>
          </p:nvSpPr>
          <p:spPr>
            <a:xfrm flipV="true">
              <a:off x="2428258" y="467642"/>
              <a:ext cx="1527479" cy="635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3" id="23"/>
            <p:cNvSpPr txBox="true"/>
            <p:nvPr/>
          </p:nvSpPr>
          <p:spPr>
            <a:xfrm rot="0">
              <a:off x="1764945" y="-47625"/>
              <a:ext cx="2883627" cy="515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3"/>
                </a:lnSpc>
              </a:pPr>
              <a:r>
                <a:rPr lang="en-US" sz="23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C₉H₈O₄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808535" y="3493355"/>
            <a:ext cx="2162721" cy="86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C₉H₈O₄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0" y="1747852"/>
            <a:ext cx="3737038" cy="694326"/>
            <a:chOff x="0" y="0"/>
            <a:chExt cx="1339270" cy="2488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39270" cy="248831"/>
            </a:xfrm>
            <a:custGeom>
              <a:avLst/>
              <a:gdLst/>
              <a:ahLst/>
              <a:cxnLst/>
              <a:rect r="r" b="b" t="t" l="l"/>
              <a:pathLst>
                <a:path h="248831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339270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10800000">
            <a:off x="3737038" y="1750248"/>
            <a:ext cx="3822962" cy="694326"/>
            <a:chOff x="0" y="0"/>
            <a:chExt cx="1370063" cy="24883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70063" cy="248831"/>
            </a:xfrm>
            <a:custGeom>
              <a:avLst/>
              <a:gdLst/>
              <a:ahLst/>
              <a:cxnLst/>
              <a:rect r="r" b="b" t="t" l="l"/>
              <a:pathLst>
                <a:path h="248831" w="1370063">
                  <a:moveTo>
                    <a:pt x="0" y="0"/>
                  </a:moveTo>
                  <a:lnTo>
                    <a:pt x="1370063" y="0"/>
                  </a:lnTo>
                  <a:lnTo>
                    <a:pt x="1370063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1370063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10800000">
            <a:off x="3780000" y="5536751"/>
            <a:ext cx="3780000" cy="694326"/>
            <a:chOff x="0" y="0"/>
            <a:chExt cx="1354667" cy="24883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54667" cy="248831"/>
            </a:xfrm>
            <a:custGeom>
              <a:avLst/>
              <a:gdLst/>
              <a:ahLst/>
              <a:cxnLst/>
              <a:rect r="r" b="b" t="t" l="l"/>
              <a:pathLst>
                <a:path h="248831" w="1354667">
                  <a:moveTo>
                    <a:pt x="0" y="0"/>
                  </a:moveTo>
                  <a:lnTo>
                    <a:pt x="1354667" y="0"/>
                  </a:lnTo>
                  <a:lnTo>
                    <a:pt x="1354667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354667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0" y="5536500"/>
            <a:ext cx="3737038" cy="694326"/>
            <a:chOff x="0" y="0"/>
            <a:chExt cx="1339270" cy="24883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39270" cy="248831"/>
            </a:xfrm>
            <a:custGeom>
              <a:avLst/>
              <a:gdLst/>
              <a:ahLst/>
              <a:cxnLst/>
              <a:rect r="r" b="b" t="t" l="l"/>
              <a:pathLst>
                <a:path h="248831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1339270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3620067" y="2707914"/>
            <a:ext cx="3837714" cy="2478137"/>
          </a:xfrm>
          <a:custGeom>
            <a:avLst/>
            <a:gdLst/>
            <a:ahLst/>
            <a:cxnLst/>
            <a:rect r="r" b="b" t="t" l="l"/>
            <a:pathLst>
              <a:path h="2478137" w="3837714">
                <a:moveTo>
                  <a:pt x="0" y="0"/>
                </a:moveTo>
                <a:lnTo>
                  <a:pt x="3837714" y="0"/>
                </a:lnTo>
                <a:lnTo>
                  <a:pt x="3837714" y="2478137"/>
                </a:lnTo>
                <a:lnTo>
                  <a:pt x="0" y="24781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4158000" y="6361831"/>
            <a:ext cx="3024000" cy="2608615"/>
          </a:xfrm>
          <a:custGeom>
            <a:avLst/>
            <a:gdLst/>
            <a:ahLst/>
            <a:cxnLst/>
            <a:rect r="r" b="b" t="t" l="l"/>
            <a:pathLst>
              <a:path h="2608615" w="3024000">
                <a:moveTo>
                  <a:pt x="0" y="0"/>
                </a:moveTo>
                <a:lnTo>
                  <a:pt x="3024000" y="0"/>
                </a:lnTo>
                <a:lnTo>
                  <a:pt x="3024000" y="2608616"/>
                </a:lnTo>
                <a:lnTo>
                  <a:pt x="0" y="26086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-42962" y="507266"/>
            <a:ext cx="7560000" cy="56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0"/>
              </a:lnSpc>
            </a:pPr>
            <a:r>
              <a:rPr lang="en-US" sz="2687" b="true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C</a:t>
            </a:r>
            <a:r>
              <a:rPr lang="en-US" b="true" sz="2687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ARD 09 — Aspirin (acetylsalicylic acid)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0842" y="1896854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531" indent="-177765" lvl="1">
              <a:lnSpc>
                <a:spcPts val="2305"/>
              </a:lnSpc>
              <a:buAutoNum type="arabicPeriod" startAt="1"/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Molecular Formula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870842" y="1899250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531" indent="-177765" lvl="1">
              <a:lnSpc>
                <a:spcPts val="2305"/>
              </a:lnSpc>
              <a:buAutoNum type="arabicPeriod" startAt="1"/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Lewis Structure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0" y="5688900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531" indent="-177765" lvl="1">
              <a:lnSpc>
                <a:spcPts val="2305"/>
              </a:lnSpc>
              <a:buAutoNum type="arabicPeriod" startAt="1"/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Condensed Structural Formula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094280" y="5688900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4.   Bond-line Formula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189408" y="9506123"/>
            <a:ext cx="3181184" cy="38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4"/>
              </a:lnSpc>
            </a:pPr>
            <a:r>
              <a:rPr lang="en-US" sz="2253" b="true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VERIFIC</a:t>
            </a:r>
            <a:r>
              <a:rPr lang="en-US" b="true" sz="2253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ATION STRIP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66111" y="9960002"/>
            <a:ext cx="1663411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atom count verified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66111" y="10240037"/>
            <a:ext cx="1653345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bond order checked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006589" y="10240037"/>
            <a:ext cx="2342176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same connectivity confirmed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006589" y="9960002"/>
            <a:ext cx="1385888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valence checked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9723" y="6853974"/>
            <a:ext cx="3460344" cy="1383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7"/>
              </a:lnSpc>
            </a:pP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CH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3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</a:t>
            </a:r>
            <a:r>
              <a:rPr lang="en-US" sz="4299">
                <a:solidFill>
                  <a:srgbClr val="FF0D0D"/>
                </a:solidFill>
                <a:latin typeface="Agrandir"/>
                <a:ea typeface="Agrandir"/>
                <a:cs typeface="Agrandir"/>
                <a:sym typeface="Agrandir"/>
              </a:rPr>
              <a:t>OO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6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H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4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</a:t>
            </a:r>
            <a:r>
              <a:rPr lang="en-US" sz="4299">
                <a:solidFill>
                  <a:srgbClr val="FF0D0D"/>
                </a:solidFill>
                <a:latin typeface="Agrandir"/>
                <a:ea typeface="Agrandir"/>
                <a:cs typeface="Agrandir"/>
                <a:sym typeface="Agrandir"/>
              </a:rPr>
              <a:t>OO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H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1166111" y="10026104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7" y="0"/>
                </a:lnTo>
                <a:lnTo>
                  <a:pt x="130927" y="100813"/>
                </a:lnTo>
                <a:lnTo>
                  <a:pt x="0" y="1008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1" id="51"/>
          <p:cNvSpPr/>
          <p:nvPr/>
        </p:nvSpPr>
        <p:spPr>
          <a:xfrm flipH="false" flipV="false" rot="0">
            <a:off x="4006589" y="10308044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6" y="0"/>
                </a:lnTo>
                <a:lnTo>
                  <a:pt x="130926" y="100813"/>
                </a:lnTo>
                <a:lnTo>
                  <a:pt x="0" y="1008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2" id="52"/>
          <p:cNvSpPr/>
          <p:nvPr/>
        </p:nvSpPr>
        <p:spPr>
          <a:xfrm flipH="false" flipV="false" rot="0">
            <a:off x="1166111" y="10308044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7" y="0"/>
                </a:lnTo>
                <a:lnTo>
                  <a:pt x="130927" y="100813"/>
                </a:lnTo>
                <a:lnTo>
                  <a:pt x="0" y="1008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3" id="53"/>
          <p:cNvSpPr/>
          <p:nvPr/>
        </p:nvSpPr>
        <p:spPr>
          <a:xfrm flipH="false" flipV="false" rot="0">
            <a:off x="4006589" y="10026104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6" y="0"/>
                </a:lnTo>
                <a:lnTo>
                  <a:pt x="130926" y="100813"/>
                </a:lnTo>
                <a:lnTo>
                  <a:pt x="0" y="1008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560000" cy="1557352"/>
            <a:chOff x="0" y="0"/>
            <a:chExt cx="2709333" cy="558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558120"/>
            </a:xfrm>
            <a:custGeom>
              <a:avLst/>
              <a:gdLst/>
              <a:ahLst/>
              <a:cxnLst/>
              <a:rect r="r" b="b" t="t" l="l"/>
              <a:pathLst>
                <a:path h="5581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558120"/>
                  </a:lnTo>
                  <a:lnTo>
                    <a:pt x="0" y="558120"/>
                  </a:lnTo>
                  <a:close/>
                </a:path>
              </a:pathLst>
            </a:custGeom>
            <a:gradFill rotWithShape="true">
              <a:gsLst>
                <a:gs pos="0">
                  <a:srgbClr val="87C7FF">
                    <a:alpha val="100000"/>
                  </a:srgbClr>
                </a:gs>
                <a:gs pos="100000">
                  <a:srgbClr val="D4CEF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709333" cy="586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747852"/>
            <a:ext cx="3737038" cy="3598148"/>
            <a:chOff x="0" y="0"/>
            <a:chExt cx="1339270" cy="12894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9270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9270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3737038" y="1750248"/>
            <a:ext cx="3822962" cy="3598148"/>
            <a:chOff x="0" y="0"/>
            <a:chExt cx="1370063" cy="12894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0063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70063">
                  <a:moveTo>
                    <a:pt x="0" y="0"/>
                  </a:moveTo>
                  <a:lnTo>
                    <a:pt x="1370063" y="0"/>
                  </a:lnTo>
                  <a:lnTo>
                    <a:pt x="1370063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370063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5535554"/>
            <a:ext cx="3737038" cy="3598148"/>
            <a:chOff x="0" y="0"/>
            <a:chExt cx="1339270" cy="12894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9270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339270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3780000" y="5536500"/>
            <a:ext cx="3780000" cy="3598148"/>
            <a:chOff x="0" y="0"/>
            <a:chExt cx="1354667" cy="12894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4667" cy="1289495"/>
            </a:xfrm>
            <a:custGeom>
              <a:avLst/>
              <a:gdLst/>
              <a:ahLst/>
              <a:cxnLst/>
              <a:rect r="r" b="b" t="t" l="l"/>
              <a:pathLst>
                <a:path h="1289495" w="1354667">
                  <a:moveTo>
                    <a:pt x="0" y="0"/>
                  </a:moveTo>
                  <a:lnTo>
                    <a:pt x="1354667" y="0"/>
                  </a:lnTo>
                  <a:lnTo>
                    <a:pt x="1354667" y="1289495"/>
                  </a:lnTo>
                  <a:lnTo>
                    <a:pt x="0" y="1289495"/>
                  </a:lnTo>
                  <a:close/>
                </a:path>
              </a:pathLst>
            </a:custGeom>
            <a:gradFill rotWithShape="true">
              <a:gsLst>
                <a:gs pos="0">
                  <a:srgbClr val="87C5FD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354667" cy="131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0" y="9323255"/>
            <a:ext cx="7560000" cy="1368745"/>
            <a:chOff x="0" y="0"/>
            <a:chExt cx="2709333" cy="4905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09333" cy="490527"/>
            </a:xfrm>
            <a:custGeom>
              <a:avLst/>
              <a:gdLst/>
              <a:ahLst/>
              <a:cxnLst/>
              <a:rect r="r" b="b" t="t" l="l"/>
              <a:pathLst>
                <a:path h="490527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490527"/>
                  </a:lnTo>
                  <a:lnTo>
                    <a:pt x="0" y="490527"/>
                  </a:lnTo>
                  <a:close/>
                </a:path>
              </a:pathLst>
            </a:custGeom>
            <a:gradFill rotWithShape="true">
              <a:gsLst>
                <a:gs pos="0">
                  <a:srgbClr val="87C7FF">
                    <a:alpha val="100000"/>
                  </a:srgbClr>
                </a:gs>
                <a:gs pos="100000">
                  <a:srgbClr val="CFCEFF">
                    <a:alpha val="100000"/>
                  </a:srgbClr>
                </a:gs>
              </a:gsLst>
              <a:lin ang="5400000"/>
            </a:gra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709333" cy="519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316603" y="773914"/>
            <a:ext cx="3757771" cy="360256"/>
            <a:chOff x="0" y="0"/>
            <a:chExt cx="5010361" cy="480342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66211"/>
              <a:ext cx="4740472" cy="4014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5"/>
                </a:lnSpc>
              </a:pPr>
              <a:r>
                <a:rPr lang="en-US" sz="1646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Molecular Formula:</a:t>
              </a:r>
            </a:p>
          </p:txBody>
        </p:sp>
        <p:sp>
          <p:nvSpPr>
            <p:cNvPr name="AutoShape 22" id="22"/>
            <p:cNvSpPr/>
            <p:nvPr/>
          </p:nvSpPr>
          <p:spPr>
            <a:xfrm flipV="true">
              <a:off x="2428258" y="467642"/>
              <a:ext cx="2312215" cy="635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3" id="23"/>
            <p:cNvSpPr txBox="true"/>
            <p:nvPr/>
          </p:nvSpPr>
          <p:spPr>
            <a:xfrm rot="0">
              <a:off x="2126734" y="-47625"/>
              <a:ext cx="2883627" cy="515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3"/>
                </a:lnSpc>
              </a:pPr>
              <a:r>
                <a:rPr lang="en-US" sz="23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C₈H₁₀N₄O₂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43253" y="3206574"/>
            <a:ext cx="3899062" cy="86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C₈H₁₀N₄O₂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0" y="1747852"/>
            <a:ext cx="3737038" cy="694326"/>
            <a:chOff x="0" y="0"/>
            <a:chExt cx="1339270" cy="2488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39270" cy="248831"/>
            </a:xfrm>
            <a:custGeom>
              <a:avLst/>
              <a:gdLst/>
              <a:ahLst/>
              <a:cxnLst/>
              <a:rect r="r" b="b" t="t" l="l"/>
              <a:pathLst>
                <a:path h="248831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339270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10800000">
            <a:off x="3737038" y="1750248"/>
            <a:ext cx="3822962" cy="694326"/>
            <a:chOff x="0" y="0"/>
            <a:chExt cx="1370063" cy="24883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70063" cy="248831"/>
            </a:xfrm>
            <a:custGeom>
              <a:avLst/>
              <a:gdLst/>
              <a:ahLst/>
              <a:cxnLst/>
              <a:rect r="r" b="b" t="t" l="l"/>
              <a:pathLst>
                <a:path h="248831" w="1370063">
                  <a:moveTo>
                    <a:pt x="0" y="0"/>
                  </a:moveTo>
                  <a:lnTo>
                    <a:pt x="1370063" y="0"/>
                  </a:lnTo>
                  <a:lnTo>
                    <a:pt x="1370063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1370063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10800000">
            <a:off x="3780000" y="5536751"/>
            <a:ext cx="3780000" cy="694326"/>
            <a:chOff x="0" y="0"/>
            <a:chExt cx="1354667" cy="24883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54667" cy="248831"/>
            </a:xfrm>
            <a:custGeom>
              <a:avLst/>
              <a:gdLst/>
              <a:ahLst/>
              <a:cxnLst/>
              <a:rect r="r" b="b" t="t" l="l"/>
              <a:pathLst>
                <a:path h="248831" w="1354667">
                  <a:moveTo>
                    <a:pt x="0" y="0"/>
                  </a:moveTo>
                  <a:lnTo>
                    <a:pt x="1354667" y="0"/>
                  </a:lnTo>
                  <a:lnTo>
                    <a:pt x="1354667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354667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0" y="5536500"/>
            <a:ext cx="3737038" cy="694326"/>
            <a:chOff x="0" y="0"/>
            <a:chExt cx="1339270" cy="24883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39270" cy="248831"/>
            </a:xfrm>
            <a:custGeom>
              <a:avLst/>
              <a:gdLst/>
              <a:ahLst/>
              <a:cxnLst/>
              <a:rect r="r" b="b" t="t" l="l"/>
              <a:pathLst>
                <a:path h="248831" w="1339270">
                  <a:moveTo>
                    <a:pt x="0" y="0"/>
                  </a:moveTo>
                  <a:lnTo>
                    <a:pt x="1339270" y="0"/>
                  </a:lnTo>
                  <a:lnTo>
                    <a:pt x="1339270" y="248831"/>
                  </a:lnTo>
                  <a:lnTo>
                    <a:pt x="0" y="248831"/>
                  </a:lnTo>
                  <a:close/>
                </a:path>
              </a:pathLst>
            </a:custGeom>
            <a:gradFill rotWithShape="true">
              <a:gsLst>
                <a:gs pos="0">
                  <a:srgbClr val="4EAAFF">
                    <a:alpha val="100000"/>
                  </a:srgbClr>
                </a:gs>
                <a:gs pos="100000">
                  <a:srgbClr val="F0F0FF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7FBFF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1339270" cy="27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4004192" y="2444574"/>
            <a:ext cx="3344439" cy="2901426"/>
          </a:xfrm>
          <a:custGeom>
            <a:avLst/>
            <a:gdLst/>
            <a:ahLst/>
            <a:cxnLst/>
            <a:rect r="r" b="b" t="t" l="l"/>
            <a:pathLst>
              <a:path h="2901426" w="3344439">
                <a:moveTo>
                  <a:pt x="0" y="0"/>
                </a:moveTo>
                <a:lnTo>
                  <a:pt x="3344439" y="0"/>
                </a:lnTo>
                <a:lnTo>
                  <a:pt x="3344439" y="2901426"/>
                </a:lnTo>
                <a:lnTo>
                  <a:pt x="0" y="2901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4650755" y="6359855"/>
            <a:ext cx="1995529" cy="2612567"/>
          </a:xfrm>
          <a:custGeom>
            <a:avLst/>
            <a:gdLst/>
            <a:ahLst/>
            <a:cxnLst/>
            <a:rect r="r" b="b" t="t" l="l"/>
            <a:pathLst>
              <a:path h="2612567" w="1995529">
                <a:moveTo>
                  <a:pt x="0" y="0"/>
                </a:moveTo>
                <a:lnTo>
                  <a:pt x="1995529" y="0"/>
                </a:lnTo>
                <a:lnTo>
                  <a:pt x="1995529" y="2612567"/>
                </a:lnTo>
                <a:lnTo>
                  <a:pt x="0" y="26125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962574" y="327320"/>
            <a:ext cx="3634853" cy="451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2"/>
              </a:lnSpc>
            </a:pPr>
            <a:r>
              <a:rPr lang="en-US" sz="2687" b="true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C</a:t>
            </a:r>
            <a:r>
              <a:rPr lang="en-US" b="true" sz="2687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ARD 10 — Caffeine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0842" y="1896854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531" indent="-177765" lvl="1">
              <a:lnSpc>
                <a:spcPts val="2305"/>
              </a:lnSpc>
              <a:buAutoNum type="arabicPeriod" startAt="1"/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Molecular Formula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870842" y="1899250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531" indent="-177765" lvl="1">
              <a:lnSpc>
                <a:spcPts val="2305"/>
              </a:lnSpc>
              <a:buAutoNum type="arabicPeriod" startAt="1"/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Lewis Structure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0" y="5688900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531" indent="-177765" lvl="1">
              <a:lnSpc>
                <a:spcPts val="2305"/>
              </a:lnSpc>
              <a:buAutoNum type="arabicPeriod" startAt="1"/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Condensed Structural Formula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094280" y="5688900"/>
            <a:ext cx="3555354" cy="32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64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4.   Bond-line Formula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189408" y="9506123"/>
            <a:ext cx="3181184" cy="38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4"/>
              </a:lnSpc>
            </a:pPr>
            <a:r>
              <a:rPr lang="en-US" sz="2253" b="true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VERIFIC</a:t>
            </a:r>
            <a:r>
              <a:rPr lang="en-US" b="true" sz="2253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ATION STRIP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66111" y="9960002"/>
            <a:ext cx="1663411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atom count verified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66111" y="10240037"/>
            <a:ext cx="1653345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bond order checked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006589" y="10240037"/>
            <a:ext cx="2342176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same connectivity confirmed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006589" y="9960002"/>
            <a:ext cx="1385888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☐</a:t>
            </a:r>
            <a:r>
              <a:rPr lang="en-US" sz="12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valence checked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88109" y="6368199"/>
            <a:ext cx="3367245" cy="238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</a:t>
            </a:r>
            <a:r>
              <a:rPr lang="en-US" sz="4299">
                <a:solidFill>
                  <a:srgbClr val="FF0D0D"/>
                </a:solidFill>
                <a:latin typeface="Agrandir"/>
                <a:ea typeface="Agrandir"/>
                <a:cs typeface="Agrandir"/>
                <a:sym typeface="Agrandir"/>
              </a:rPr>
              <a:t>O</a:t>
            </a:r>
            <a:r>
              <a:rPr lang="en-US" sz="4299">
                <a:solidFill>
                  <a:srgbClr val="304FF7"/>
                </a:solidFill>
                <a:latin typeface="Agrandir"/>
                <a:ea typeface="Agrandir"/>
                <a:cs typeface="Agrandir"/>
                <a:sym typeface="Agrandir"/>
              </a:rPr>
              <a:t>N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(CH3)C</a:t>
            </a:r>
            <a:r>
              <a:rPr lang="en-US" sz="4299">
                <a:solidFill>
                  <a:srgbClr val="FF0D0D"/>
                </a:solidFill>
                <a:latin typeface="Agrandir"/>
                <a:ea typeface="Agrandir"/>
                <a:cs typeface="Agrandir"/>
                <a:sym typeface="Agrandir"/>
              </a:rPr>
              <a:t>O</a:t>
            </a:r>
            <a:r>
              <a:rPr lang="en-US" sz="4299">
                <a:solidFill>
                  <a:srgbClr val="304FF7"/>
                </a:solidFill>
                <a:latin typeface="Agrandir"/>
                <a:ea typeface="Agrandir"/>
                <a:cs typeface="Agrandir"/>
                <a:sym typeface="Agrandir"/>
              </a:rPr>
              <a:t>N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(CH3)C</a:t>
            </a:r>
            <a:r>
              <a:rPr lang="en-US" sz="4299">
                <a:solidFill>
                  <a:srgbClr val="304FF7"/>
                </a:solidFill>
                <a:latin typeface="Agrandir"/>
                <a:ea typeface="Agrandir"/>
                <a:cs typeface="Agrandir"/>
                <a:sym typeface="Agrandir"/>
              </a:rPr>
              <a:t>N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CHC</a:t>
            </a:r>
            <a:r>
              <a:rPr lang="en-US" sz="4299">
                <a:solidFill>
                  <a:srgbClr val="304FF7"/>
                </a:solidFill>
                <a:latin typeface="Agrandir"/>
                <a:ea typeface="Agrandir"/>
                <a:cs typeface="Agrandir"/>
                <a:sym typeface="Agrandir"/>
              </a:rPr>
              <a:t>N</a:t>
            </a:r>
            <a:r>
              <a:rPr lang="en-US" sz="42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(CH3)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1166111" y="10019263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7" y="0"/>
                </a:lnTo>
                <a:lnTo>
                  <a:pt x="130927" y="100814"/>
                </a:lnTo>
                <a:lnTo>
                  <a:pt x="0" y="1008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1" id="51"/>
          <p:cNvSpPr/>
          <p:nvPr/>
        </p:nvSpPr>
        <p:spPr>
          <a:xfrm flipH="false" flipV="false" rot="0">
            <a:off x="1166111" y="10308824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7" y="0"/>
                </a:lnTo>
                <a:lnTo>
                  <a:pt x="130927" y="100813"/>
                </a:lnTo>
                <a:lnTo>
                  <a:pt x="0" y="1008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2" id="52"/>
          <p:cNvSpPr/>
          <p:nvPr/>
        </p:nvSpPr>
        <p:spPr>
          <a:xfrm flipH="false" flipV="false" rot="0">
            <a:off x="4004192" y="10300997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6" y="0"/>
                </a:lnTo>
                <a:lnTo>
                  <a:pt x="130926" y="100814"/>
                </a:lnTo>
                <a:lnTo>
                  <a:pt x="0" y="1008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3" id="53"/>
          <p:cNvSpPr/>
          <p:nvPr/>
        </p:nvSpPr>
        <p:spPr>
          <a:xfrm flipH="false" flipV="false" rot="0">
            <a:off x="4004192" y="10023950"/>
            <a:ext cx="130927" cy="100813"/>
          </a:xfrm>
          <a:custGeom>
            <a:avLst/>
            <a:gdLst/>
            <a:ahLst/>
            <a:cxnLst/>
            <a:rect r="r" b="b" t="t" l="l"/>
            <a:pathLst>
              <a:path h="100813" w="130927">
                <a:moveTo>
                  <a:pt x="0" y="0"/>
                </a:moveTo>
                <a:lnTo>
                  <a:pt x="130926" y="0"/>
                </a:lnTo>
                <a:lnTo>
                  <a:pt x="130926" y="100813"/>
                </a:lnTo>
                <a:lnTo>
                  <a:pt x="0" y="1008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DAHY1zcCgGA</dc:identifier>
  <dcterms:modified xsi:type="dcterms:W3CDTF">2011-08-01T06:04:30Z</dcterms:modified>
  <cp:revision>1</cp:revision>
  <dc:title>Add a subheading</dc:title>
</cp:coreProperties>
</file>